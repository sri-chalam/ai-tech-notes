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7" r:id="rId3"/>
    <p:sldId id="262" r:id="rId4"/>
    <p:sldId id="258" r:id="rId5"/>
    <p:sldId id="259" r:id="rId6"/>
    <p:sldId id="260" r:id="rId7"/>
    <p:sldId id="263" r:id="rId8"/>
    <p:sldId id="264" r:id="rId9"/>
    <p:sldId id="261" r:id="rId10"/>
    <p:sldId id="266" r:id="rId11"/>
    <p:sldId id="267" r:id="rId12"/>
    <p:sldId id="276" r:id="rId13"/>
    <p:sldId id="277" r:id="rId14"/>
    <p:sldId id="275" r:id="rId15"/>
    <p:sldId id="271" r:id="rId16"/>
    <p:sldId id="268" r:id="rId17"/>
    <p:sldId id="269" r:id="rId18"/>
    <p:sldId id="281" r:id="rId19"/>
    <p:sldId id="270" r:id="rId20"/>
    <p:sldId id="273" r:id="rId21"/>
    <p:sldId id="272" r:id="rId22"/>
    <p:sldId id="278" r:id="rId23"/>
    <p:sldId id="274" r:id="rId24"/>
    <p:sldId id="279" r:id="rId25"/>
    <p:sldId id="280"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63"/>
    <p:restoredTop sz="87515"/>
  </p:normalViewPr>
  <p:slideViewPr>
    <p:cSldViewPr snapToGrid="0">
      <p:cViewPr varScale="1">
        <p:scale>
          <a:sx n="131" d="100"/>
          <a:sy n="131" d="100"/>
        </p:scale>
        <p:origin x="992" y="184"/>
      </p:cViewPr>
      <p:guideLst/>
    </p:cSldViewPr>
  </p:slideViewPr>
  <p:notesTextViewPr>
    <p:cViewPr>
      <p:scale>
        <a:sx n="1" d="1"/>
        <a:sy n="1" d="1"/>
      </p:scale>
      <p:origin x="0" y="0"/>
    </p:cViewPr>
  </p:notesTextViewPr>
  <p:notesViewPr>
    <p:cSldViewPr snapToGrid="0">
      <p:cViewPr varScale="1">
        <p:scale>
          <a:sx n="114" d="100"/>
          <a:sy n="114" d="100"/>
        </p:scale>
        <p:origin x="4344"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3EAF31-E892-BD4A-AD1D-FE5076BA26F2}"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10FBDE-3B8A-D94D-90AA-2CE28CEDA722}" type="slidenum">
              <a:rPr lang="en-US" smtClean="0"/>
              <a:t>‹#›</a:t>
            </a:fld>
            <a:endParaRPr lang="en-US"/>
          </a:p>
        </p:txBody>
      </p:sp>
    </p:spTree>
    <p:extLst>
      <p:ext uri="{BB962C8B-B14F-4D97-AF65-F5344CB8AC3E}">
        <p14:creationId xmlns:p14="http://schemas.microsoft.com/office/powerpoint/2010/main" val="852853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5D958377-8945-4A29-AA61-C5A798FE2322}" type="slidenum">
              <a:rPr lang="en-GB" smtClean="0"/>
              <a:t>2</a:t>
            </a:fld>
            <a:endParaRPr lang="en-GB"/>
          </a:p>
        </p:txBody>
      </p:sp>
    </p:spTree>
    <p:extLst>
      <p:ext uri="{BB962C8B-B14F-4D97-AF65-F5344CB8AC3E}">
        <p14:creationId xmlns:p14="http://schemas.microsoft.com/office/powerpoint/2010/main" val="3743991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CDBB1-4ED2-8529-9ED6-A13567C3C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FA62B-94AA-F3D5-009C-488E35174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888B7-1E2E-2F60-C431-4A612AA66E52}"/>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For existing projects, we can ask AI, “What improvements can be made to improve the testing?”, “This code can return up to 100 offers, are there any performance problems in this code? ”</a:t>
            </a:r>
          </a:p>
          <a:p>
            <a:r>
              <a:rPr lang="en-GB" b="0" baseline="0" dirty="0">
                <a:latin typeface="Arial" panose="020B0604020202020204" pitchFamily="34" charset="0"/>
                <a:cs typeface="Arial" panose="020B0604020202020204" pitchFamily="34" charset="0"/>
              </a:rPr>
              <a:t>How to </a:t>
            </a:r>
            <a:r>
              <a:rPr lang="en-GB" b="1" baseline="0" dirty="0">
                <a:solidFill>
                  <a:schemeClr val="accent2">
                    <a:lumMod val="75000"/>
                  </a:schemeClr>
                </a:solidFill>
                <a:latin typeface="Arial" panose="020B0604020202020204" pitchFamily="34" charset="0"/>
                <a:cs typeface="Arial" panose="020B0604020202020204" pitchFamily="34" charset="0"/>
              </a:rPr>
              <a:t>make this code more resilient</a:t>
            </a:r>
            <a:r>
              <a:rPr lang="en-GB" b="0" baseline="0" dirty="0">
                <a:latin typeface="Arial" panose="020B0604020202020204" pitchFamily="34" charset="0"/>
                <a:cs typeface="Arial" panose="020B0604020202020204" pitchFamily="34" charset="0"/>
              </a:rPr>
              <a:t>?</a:t>
            </a:r>
          </a:p>
          <a:p>
            <a:r>
              <a:rPr lang="en-GB" b="0" baseline="0" dirty="0">
                <a:latin typeface="Arial" panose="020B0604020202020204" pitchFamily="34" charset="0"/>
                <a:cs typeface="Arial" panose="020B0604020202020204" pitchFamily="34" charset="0"/>
              </a:rPr>
              <a:t>When there is a new initiative, we can chat with AI on ideas to use.</a:t>
            </a:r>
          </a:p>
          <a:p>
            <a:r>
              <a:rPr lang="en-GB" b="0" baseline="0" dirty="0">
                <a:latin typeface="Arial" panose="020B0604020202020204" pitchFamily="34" charset="0"/>
                <a:cs typeface="Arial" panose="020B0604020202020204" pitchFamily="34" charset="0"/>
              </a:rPr>
              <a:t>Show the </a:t>
            </a:r>
            <a:r>
              <a:rPr lang="en-GB" b="1" baseline="0" dirty="0">
                <a:latin typeface="Arial" panose="020B0604020202020204" pitchFamily="34" charset="0"/>
                <a:cs typeface="Arial" panose="020B0604020202020204" pitchFamily="34" charset="0"/>
              </a:rPr>
              <a:t>existing web page</a:t>
            </a:r>
            <a:r>
              <a:rPr lang="en-GB" b="0" baseline="0" dirty="0">
                <a:latin typeface="Arial" panose="020B0604020202020204" pitchFamily="34" charset="0"/>
                <a:cs typeface="Arial" panose="020B0604020202020204" pitchFamily="34" charset="0"/>
              </a:rPr>
              <a:t> for Java upgrade – quite some manual work.</a:t>
            </a:r>
            <a:br>
              <a:rPr lang="en-GB" b="0" baseline="0" dirty="0">
                <a:latin typeface="Arial" panose="020B0604020202020204" pitchFamily="34" charset="0"/>
                <a:cs typeface="Arial" panose="020B0604020202020204" pitchFamily="34" charset="0"/>
              </a:rPr>
            </a:br>
            <a:br>
              <a:rPr lang="en-GB" b="0" baseline="0" dirty="0">
                <a:latin typeface="Arial" panose="020B0604020202020204" pitchFamily="34" charset="0"/>
                <a:cs typeface="Arial" panose="020B0604020202020204" pitchFamily="34" charset="0"/>
              </a:rPr>
            </a:br>
            <a:r>
              <a:rPr lang="en-GB" b="0" baseline="0" dirty="0">
                <a:latin typeface="Arial" panose="020B0604020202020204" pitchFamily="34" charset="0"/>
                <a:cs typeface="Arial" panose="020B0604020202020204" pitchFamily="34" charset="0"/>
              </a:rPr>
              <a:t>The manual approach has a big issue. </a:t>
            </a:r>
            <a:r>
              <a:rPr lang="en-GB" b="1" baseline="0" dirty="0">
                <a:solidFill>
                  <a:schemeClr val="accent2">
                    <a:lumMod val="75000"/>
                  </a:schemeClr>
                </a:solidFill>
                <a:latin typeface="Arial" panose="020B0604020202020204" pitchFamily="34" charset="0"/>
                <a:cs typeface="Arial" panose="020B0604020202020204" pitchFamily="34" charset="0"/>
              </a:rPr>
              <a:t>It just upgrades the version. Does not attempt to use use any features.</a:t>
            </a:r>
          </a:p>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E00187E-10CA-344B-3335-2386E7184EA6}"/>
              </a:ext>
            </a:extLst>
          </p:cNvPr>
          <p:cNvSpPr>
            <a:spLocks noGrp="1"/>
          </p:cNvSpPr>
          <p:nvPr>
            <p:ph type="sldNum" sz="quarter" idx="10"/>
          </p:nvPr>
        </p:nvSpPr>
        <p:spPr/>
        <p:txBody>
          <a:bodyPr/>
          <a:lstStyle/>
          <a:p>
            <a:fld id="{5D958377-8945-4A29-AA61-C5A798FE2322}" type="slidenum">
              <a:rPr lang="en-GB" smtClean="0"/>
              <a:t>3</a:t>
            </a:fld>
            <a:endParaRPr lang="en-GB"/>
          </a:p>
        </p:txBody>
      </p:sp>
    </p:spTree>
    <p:extLst>
      <p:ext uri="{BB962C8B-B14F-4D97-AF65-F5344CB8AC3E}">
        <p14:creationId xmlns:p14="http://schemas.microsoft.com/office/powerpoint/2010/main" val="10159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E206-5732-7EE1-CFA0-A4901D0B6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77B97-413C-3E51-EBF7-BFDCC01BB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676BB-E37C-479C-02E2-A38EEADFBE3E}"/>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This is similar to generating unit test cases with AI.</a:t>
            </a:r>
          </a:p>
          <a:p>
            <a:r>
              <a:rPr lang="en-GB" b="0" baseline="0" dirty="0">
                <a:latin typeface="Arial" panose="020B0604020202020204" pitchFamily="34" charset="0"/>
                <a:cs typeface="Arial" panose="020B0604020202020204" pitchFamily="34" charset="0"/>
              </a:rPr>
              <a:t>We can write one line prompt to add unit tests.</a:t>
            </a:r>
            <a:br>
              <a:rPr lang="en-GB" b="0" baseline="0" dirty="0">
                <a:latin typeface="Arial" panose="020B0604020202020204" pitchFamily="34" charset="0"/>
                <a:cs typeface="Arial" panose="020B0604020202020204" pitchFamily="34" charset="0"/>
              </a:rPr>
            </a:br>
            <a:r>
              <a:rPr lang="en-GB" b="0" baseline="0" dirty="0">
                <a:latin typeface="Arial" panose="020B0604020202020204" pitchFamily="34" charset="0"/>
                <a:cs typeface="Arial" panose="020B0604020202020204" pitchFamily="34" charset="0"/>
              </a:rPr>
              <a:t>But if we want to follow the industry best practices, then it takes couple of weeks to create instructions with many examples (examples for the right way and wrong way). </a:t>
            </a:r>
            <a:br>
              <a:rPr lang="en-GB" b="0" baseline="0" dirty="0">
                <a:latin typeface="Arial" panose="020B0604020202020204" pitchFamily="34" charset="0"/>
                <a:cs typeface="Arial" panose="020B0604020202020204" pitchFamily="34" charset="0"/>
              </a:rPr>
            </a:br>
            <a:r>
              <a:rPr lang="en-GB" b="0" baseline="0" dirty="0">
                <a:latin typeface="Arial" panose="020B0604020202020204" pitchFamily="34" charset="0"/>
                <a:cs typeface="Arial" panose="020B0604020202020204" pitchFamily="34" charset="0"/>
              </a:rPr>
              <a:t>Software engineering at Google. There are three chapters on how testing is done by Google developers.</a:t>
            </a:r>
          </a:p>
        </p:txBody>
      </p:sp>
      <p:sp>
        <p:nvSpPr>
          <p:cNvPr id="4" name="Slide Number Placeholder 3">
            <a:extLst>
              <a:ext uri="{FF2B5EF4-FFF2-40B4-BE49-F238E27FC236}">
                <a16:creationId xmlns:a16="http://schemas.microsoft.com/office/drawing/2014/main" id="{09E21D85-B400-EB06-217B-8B13D580EB3E}"/>
              </a:ext>
            </a:extLst>
          </p:cNvPr>
          <p:cNvSpPr>
            <a:spLocks noGrp="1"/>
          </p:cNvSpPr>
          <p:nvPr>
            <p:ph type="sldNum" sz="quarter" idx="10"/>
          </p:nvPr>
        </p:nvSpPr>
        <p:spPr/>
        <p:txBody>
          <a:bodyPr/>
          <a:lstStyle/>
          <a:p>
            <a:fld id="{5D958377-8945-4A29-AA61-C5A798FE2322}" type="slidenum">
              <a:rPr lang="en-GB" smtClean="0"/>
              <a:t>4</a:t>
            </a:fld>
            <a:endParaRPr lang="en-GB"/>
          </a:p>
        </p:txBody>
      </p:sp>
    </p:spTree>
    <p:extLst>
      <p:ext uri="{BB962C8B-B14F-4D97-AF65-F5344CB8AC3E}">
        <p14:creationId xmlns:p14="http://schemas.microsoft.com/office/powerpoint/2010/main" val="2715189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71642-2FCB-4937-13C1-788F1C45F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C630D-FD23-7D8C-8397-6C631ED09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C519C-EC3C-CD9D-A19F-00C9FF13AA74}"/>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Hybrid approach: Take the best features of couple of approaches and put them into one.</a:t>
            </a:r>
          </a:p>
        </p:txBody>
      </p:sp>
      <p:sp>
        <p:nvSpPr>
          <p:cNvPr id="4" name="Slide Number Placeholder 3">
            <a:extLst>
              <a:ext uri="{FF2B5EF4-FFF2-40B4-BE49-F238E27FC236}">
                <a16:creationId xmlns:a16="http://schemas.microsoft.com/office/drawing/2014/main" id="{DFBE3B16-F139-6EFB-2813-C451C1A4C061}"/>
              </a:ext>
            </a:extLst>
          </p:cNvPr>
          <p:cNvSpPr>
            <a:spLocks noGrp="1"/>
          </p:cNvSpPr>
          <p:nvPr>
            <p:ph type="sldNum" sz="quarter" idx="10"/>
          </p:nvPr>
        </p:nvSpPr>
        <p:spPr/>
        <p:txBody>
          <a:bodyPr/>
          <a:lstStyle/>
          <a:p>
            <a:fld id="{5D958377-8945-4A29-AA61-C5A798FE2322}" type="slidenum">
              <a:rPr lang="en-GB" smtClean="0"/>
              <a:t>5</a:t>
            </a:fld>
            <a:endParaRPr lang="en-GB"/>
          </a:p>
        </p:txBody>
      </p:sp>
    </p:spTree>
    <p:extLst>
      <p:ext uri="{BB962C8B-B14F-4D97-AF65-F5344CB8AC3E}">
        <p14:creationId xmlns:p14="http://schemas.microsoft.com/office/powerpoint/2010/main" val="4220896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5AE3E-1487-1CE1-F108-E271232D2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94150-A06C-3F29-4EFA-B18427044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A3B16-4AF6-E2B9-57F6-5E08BA1AFE29}"/>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The recipe </a:t>
            </a:r>
            <a:r>
              <a:rPr lang="en-US" sz="1200" b="1" dirty="0">
                <a:solidFill>
                  <a:schemeClr val="accent2">
                    <a:lumMod val="75000"/>
                  </a:schemeClr>
                </a:solidFill>
              </a:rPr>
              <a:t>UpgradeToJava17 has multiple other recipes</a:t>
            </a:r>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7BC8C57-E358-5FAA-2413-6A245DB4A801}"/>
              </a:ext>
            </a:extLst>
          </p:cNvPr>
          <p:cNvSpPr>
            <a:spLocks noGrp="1"/>
          </p:cNvSpPr>
          <p:nvPr>
            <p:ph type="sldNum" sz="quarter" idx="10"/>
          </p:nvPr>
        </p:nvSpPr>
        <p:spPr/>
        <p:txBody>
          <a:bodyPr/>
          <a:lstStyle/>
          <a:p>
            <a:fld id="{5D958377-8945-4A29-AA61-C5A798FE2322}" type="slidenum">
              <a:rPr lang="en-GB" smtClean="0"/>
              <a:t>6</a:t>
            </a:fld>
            <a:endParaRPr lang="en-GB"/>
          </a:p>
        </p:txBody>
      </p:sp>
    </p:spTree>
    <p:extLst>
      <p:ext uri="{BB962C8B-B14F-4D97-AF65-F5344CB8AC3E}">
        <p14:creationId xmlns:p14="http://schemas.microsoft.com/office/powerpoint/2010/main" val="2850022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E586-8920-84F6-EEF7-A74812479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77D23-42B9-FCC1-7577-84F27D7A9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CA6A1-56E9-9312-86DE-358754E09B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baseline="0" dirty="0">
                <a:solidFill>
                  <a:schemeClr val="accent2">
                    <a:lumMod val="75000"/>
                  </a:schemeClr>
                </a:solidFill>
                <a:latin typeface="Arial" panose="020B0604020202020204" pitchFamily="34" charset="0"/>
                <a:cs typeface="Arial" panose="020B0604020202020204" pitchFamily="34" charset="0"/>
              </a:rPr>
              <a:t>The recipe </a:t>
            </a:r>
            <a:r>
              <a:rPr lang="en-US" sz="1200" b="1" dirty="0" err="1">
                <a:solidFill>
                  <a:schemeClr val="accent2">
                    <a:lumMod val="75000"/>
                  </a:schemeClr>
                </a:solidFill>
                <a:latin typeface=""/>
              </a:rPr>
              <a:t>org.openrewrite.java.migrate.SwitchPatternMatching</a:t>
            </a:r>
            <a:r>
              <a:rPr lang="en-US" sz="1200" b="1" dirty="0">
                <a:solidFill>
                  <a:schemeClr val="accent2">
                    <a:lumMod val="75000"/>
                  </a:schemeClr>
                </a:solidFill>
                <a:latin typeface=""/>
              </a:rPr>
              <a:t> is not required.</a:t>
            </a:r>
            <a:r>
              <a:rPr lang="en-US" sz="1200" dirty="0">
                <a:latin typeface=""/>
              </a:rPr>
              <a:t> </a:t>
            </a:r>
          </a:p>
          <a:p>
            <a:r>
              <a:rPr lang="en-GB" b="0" baseline="0" dirty="0">
                <a:latin typeface="Arial" panose="020B0604020202020204" pitchFamily="34" charset="0"/>
                <a:cs typeface="Arial" panose="020B0604020202020204" pitchFamily="34" charset="0"/>
              </a:rPr>
              <a:t>The presenter tried to show another recipe not included in UpgradeToJava21. But it is already included.</a:t>
            </a:r>
            <a:br>
              <a:rPr lang="en-GB" b="0" baseline="0" dirty="0">
                <a:latin typeface="Arial" panose="020B0604020202020204" pitchFamily="34" charset="0"/>
                <a:cs typeface="Arial" panose="020B0604020202020204" pitchFamily="34" charset="0"/>
              </a:rPr>
            </a:br>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73BF2E-BE00-7BC3-F4A6-D1B81385E779}"/>
              </a:ext>
            </a:extLst>
          </p:cNvPr>
          <p:cNvSpPr>
            <a:spLocks noGrp="1"/>
          </p:cNvSpPr>
          <p:nvPr>
            <p:ph type="sldNum" sz="quarter" idx="10"/>
          </p:nvPr>
        </p:nvSpPr>
        <p:spPr/>
        <p:txBody>
          <a:bodyPr/>
          <a:lstStyle/>
          <a:p>
            <a:fld id="{5D958377-8945-4A29-AA61-C5A798FE2322}" type="slidenum">
              <a:rPr lang="en-GB" smtClean="0"/>
              <a:t>7</a:t>
            </a:fld>
            <a:endParaRPr lang="en-GB"/>
          </a:p>
        </p:txBody>
      </p:sp>
    </p:spTree>
    <p:extLst>
      <p:ext uri="{BB962C8B-B14F-4D97-AF65-F5344CB8AC3E}">
        <p14:creationId xmlns:p14="http://schemas.microsoft.com/office/powerpoint/2010/main" val="39952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28062-8502-B23E-10AE-ADFD33FEE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1F90E-8652-9C7F-D8EA-8A3CA86C2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6B2B3-323C-22E5-3920-2C1497182B54}"/>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More reference:</a:t>
            </a:r>
          </a:p>
          <a:p>
            <a:r>
              <a:rPr lang="en-GB" b="0" baseline="0" dirty="0">
                <a:latin typeface="Arial" panose="020B0604020202020204" pitchFamily="34" charset="0"/>
                <a:cs typeface="Arial" panose="020B0604020202020204" pitchFamily="34" charset="0"/>
              </a:rPr>
              <a:t>https://</a:t>
            </a:r>
            <a:r>
              <a:rPr lang="en-GB" b="0" baseline="0" dirty="0" err="1">
                <a:latin typeface="Arial" panose="020B0604020202020204" pitchFamily="34" charset="0"/>
                <a:cs typeface="Arial" panose="020B0604020202020204" pitchFamily="34" charset="0"/>
              </a:rPr>
              <a:t>docs.openrewrite.org</a:t>
            </a:r>
            <a:r>
              <a:rPr lang="en-GB" b="0" baseline="0" dirty="0">
                <a:latin typeface="Arial" panose="020B0604020202020204" pitchFamily="34" charset="0"/>
                <a:cs typeface="Arial" panose="020B0604020202020204" pitchFamily="34" charset="0"/>
              </a:rPr>
              <a:t>/recipes/java/migrate/lang/var/</a:t>
            </a:r>
            <a:r>
              <a:rPr lang="en-GB" b="0" baseline="0" dirty="0" err="1">
                <a:latin typeface="Arial" panose="020B0604020202020204" pitchFamily="34" charset="0"/>
                <a:cs typeface="Arial" panose="020B0604020202020204" pitchFamily="34" charset="0"/>
              </a:rPr>
              <a:t>usevarforgenericsconstructors</a:t>
            </a:r>
            <a:br>
              <a:rPr lang="en-GB" b="0" baseline="0" dirty="0">
                <a:latin typeface="Arial" panose="020B0604020202020204" pitchFamily="34" charset="0"/>
                <a:cs typeface="Arial" panose="020B0604020202020204" pitchFamily="34" charset="0"/>
              </a:rPr>
            </a:br>
            <a:r>
              <a:rPr lang="en-GB" b="0" baseline="0" dirty="0">
                <a:latin typeface="Arial" panose="020B0604020202020204" pitchFamily="34" charset="0"/>
                <a:cs typeface="Arial" panose="020B0604020202020204" pitchFamily="34" charset="0"/>
              </a:rPr>
              <a:t>https://</a:t>
            </a:r>
            <a:r>
              <a:rPr lang="en-GB" b="0" baseline="0" dirty="0" err="1">
                <a:latin typeface="Arial" panose="020B0604020202020204" pitchFamily="34" charset="0"/>
                <a:cs typeface="Arial" panose="020B0604020202020204" pitchFamily="34" charset="0"/>
              </a:rPr>
              <a:t>docs.openrewrite.org</a:t>
            </a:r>
            <a:r>
              <a:rPr lang="en-GB" b="0" baseline="0" dirty="0">
                <a:latin typeface="Arial" panose="020B0604020202020204" pitchFamily="34" charset="0"/>
                <a:cs typeface="Arial" panose="020B0604020202020204" pitchFamily="34" charset="0"/>
              </a:rPr>
              <a:t>/recipes/java/migrate/lang/</a:t>
            </a:r>
            <a:r>
              <a:rPr lang="en-GB" b="0" baseline="0" dirty="0" err="1">
                <a:latin typeface="Arial" panose="020B0604020202020204" pitchFamily="34" charset="0"/>
                <a:cs typeface="Arial" panose="020B0604020202020204" pitchFamily="34" charset="0"/>
              </a:rPr>
              <a:t>switchcaseenumguardtolabel</a:t>
            </a:r>
            <a:endParaRPr lang="en-GB" b="0" baseline="0" dirty="0">
              <a:latin typeface="Arial" panose="020B0604020202020204" pitchFamily="34" charset="0"/>
              <a:cs typeface="Arial" panose="020B0604020202020204" pitchFamily="34" charset="0"/>
            </a:endParaRPr>
          </a:p>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F76E424-2113-1310-EB2C-94580A455D6C}"/>
              </a:ext>
            </a:extLst>
          </p:cNvPr>
          <p:cNvSpPr>
            <a:spLocks noGrp="1"/>
          </p:cNvSpPr>
          <p:nvPr>
            <p:ph type="sldNum" sz="quarter" idx="10"/>
          </p:nvPr>
        </p:nvSpPr>
        <p:spPr/>
        <p:txBody>
          <a:bodyPr/>
          <a:lstStyle/>
          <a:p>
            <a:fld id="{5D958377-8945-4A29-AA61-C5A798FE2322}" type="slidenum">
              <a:rPr lang="en-GB" smtClean="0"/>
              <a:t>8</a:t>
            </a:fld>
            <a:endParaRPr lang="en-GB"/>
          </a:p>
        </p:txBody>
      </p:sp>
    </p:spTree>
    <p:extLst>
      <p:ext uri="{BB962C8B-B14F-4D97-AF65-F5344CB8AC3E}">
        <p14:creationId xmlns:p14="http://schemas.microsoft.com/office/powerpoint/2010/main" val="193689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A5DB-2CB1-AAEE-070F-AD409AC4A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43A42-810C-34EC-7858-DD4280D8C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1EF83-2030-426F-E83D-856D28455AAD}"/>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E3F9B41-89A9-D024-15F9-2D1DEDBDC75A}"/>
              </a:ext>
            </a:extLst>
          </p:cNvPr>
          <p:cNvSpPr>
            <a:spLocks noGrp="1"/>
          </p:cNvSpPr>
          <p:nvPr>
            <p:ph type="sldNum" sz="quarter" idx="10"/>
          </p:nvPr>
        </p:nvSpPr>
        <p:spPr/>
        <p:txBody>
          <a:bodyPr/>
          <a:lstStyle/>
          <a:p>
            <a:fld id="{5D958377-8945-4A29-AA61-C5A798FE2322}" type="slidenum">
              <a:rPr lang="en-GB" smtClean="0"/>
              <a:t>9</a:t>
            </a:fld>
            <a:endParaRPr lang="en-GB"/>
          </a:p>
        </p:txBody>
      </p:sp>
    </p:spTree>
    <p:extLst>
      <p:ext uri="{BB962C8B-B14F-4D97-AF65-F5344CB8AC3E}">
        <p14:creationId xmlns:p14="http://schemas.microsoft.com/office/powerpoint/2010/main" val="2113720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3C2B-E414-9E9D-0B6D-708837816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2BB7B-BCBF-8E38-1FFE-B0D0418F1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E6E6E-6111-F30A-E6D9-D12DD1D338BD}"/>
              </a:ext>
            </a:extLst>
          </p:cNvPr>
          <p:cNvSpPr>
            <a:spLocks noGrp="1"/>
          </p:cNvSpPr>
          <p:nvPr>
            <p:ph type="body" idx="1"/>
          </p:nvPr>
        </p:nvSpPr>
        <p:spPr/>
        <p:txBody>
          <a:bodyPr/>
          <a:lstStyle/>
          <a:p>
            <a:r>
              <a:rPr lang="en-US" dirty="0"/>
              <a:t>The </a:t>
            </a:r>
            <a:r>
              <a:rPr lang="en-US" b="1" dirty="0"/>
              <a:t>hybrid approach lacks the extensive training data from thousands of Java upgrades</a:t>
            </a:r>
            <a:r>
              <a:rPr lang="en-US" dirty="0"/>
              <a:t> that tools like Amazon Q</a:t>
            </a:r>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03FC5C2-8E08-546B-C0A4-E365AC0F62A1}"/>
              </a:ext>
            </a:extLst>
          </p:cNvPr>
          <p:cNvSpPr>
            <a:spLocks noGrp="1"/>
          </p:cNvSpPr>
          <p:nvPr>
            <p:ph type="sldNum" sz="quarter" idx="10"/>
          </p:nvPr>
        </p:nvSpPr>
        <p:spPr/>
        <p:txBody>
          <a:bodyPr/>
          <a:lstStyle/>
          <a:p>
            <a:fld id="{5D958377-8945-4A29-AA61-C5A798FE2322}" type="slidenum">
              <a:rPr lang="en-GB" smtClean="0"/>
              <a:t>10</a:t>
            </a:fld>
            <a:endParaRPr lang="en-GB"/>
          </a:p>
        </p:txBody>
      </p:sp>
    </p:spTree>
    <p:extLst>
      <p:ext uri="{BB962C8B-B14F-4D97-AF65-F5344CB8AC3E}">
        <p14:creationId xmlns:p14="http://schemas.microsoft.com/office/powerpoint/2010/main" val="1144666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6F6CE-1345-C600-21DA-F4450A50C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116EB-32DE-EF0B-DA7C-FF3C5E630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A765E-4216-63EC-4191-3897F68AEAA7}"/>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42F1786-3132-DB3B-90AC-45FE3E726C62}"/>
              </a:ext>
            </a:extLst>
          </p:cNvPr>
          <p:cNvSpPr>
            <a:spLocks noGrp="1"/>
          </p:cNvSpPr>
          <p:nvPr>
            <p:ph type="sldNum" sz="quarter" idx="10"/>
          </p:nvPr>
        </p:nvSpPr>
        <p:spPr/>
        <p:txBody>
          <a:bodyPr/>
          <a:lstStyle/>
          <a:p>
            <a:fld id="{5D958377-8945-4A29-AA61-C5A798FE2322}" type="slidenum">
              <a:rPr lang="en-GB" smtClean="0"/>
              <a:t>11</a:t>
            </a:fld>
            <a:endParaRPr lang="en-GB"/>
          </a:p>
        </p:txBody>
      </p:sp>
    </p:spTree>
    <p:extLst>
      <p:ext uri="{BB962C8B-B14F-4D97-AF65-F5344CB8AC3E}">
        <p14:creationId xmlns:p14="http://schemas.microsoft.com/office/powerpoint/2010/main" val="1687806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F9D0B-2596-876C-76A5-ED20EE24B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55033-49ED-5F38-3442-D6888922DE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B4814-4599-AFA8-FF11-B0706F527273}"/>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0B1E09E-D997-65F1-ED8C-C64346252348}"/>
              </a:ext>
            </a:extLst>
          </p:cNvPr>
          <p:cNvSpPr>
            <a:spLocks noGrp="1"/>
          </p:cNvSpPr>
          <p:nvPr>
            <p:ph type="sldNum" sz="quarter" idx="10"/>
          </p:nvPr>
        </p:nvSpPr>
        <p:spPr/>
        <p:txBody>
          <a:bodyPr/>
          <a:lstStyle/>
          <a:p>
            <a:fld id="{5D958377-8945-4A29-AA61-C5A798FE2322}" type="slidenum">
              <a:rPr lang="en-GB" smtClean="0"/>
              <a:t>12</a:t>
            </a:fld>
            <a:endParaRPr lang="en-GB"/>
          </a:p>
        </p:txBody>
      </p:sp>
    </p:spTree>
    <p:extLst>
      <p:ext uri="{BB962C8B-B14F-4D97-AF65-F5344CB8AC3E}">
        <p14:creationId xmlns:p14="http://schemas.microsoft.com/office/powerpoint/2010/main" val="1124041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382AA-440C-ED3C-CA44-1A676EE41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1CCC0-879C-22B1-C78A-C06F67BD9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726AC-95FD-54E7-4C1C-50E3A881E166}"/>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D5BD997-B0CA-D3CB-F18E-1874C7DBF597}"/>
              </a:ext>
            </a:extLst>
          </p:cNvPr>
          <p:cNvSpPr>
            <a:spLocks noGrp="1"/>
          </p:cNvSpPr>
          <p:nvPr>
            <p:ph type="sldNum" sz="quarter" idx="10"/>
          </p:nvPr>
        </p:nvSpPr>
        <p:spPr/>
        <p:txBody>
          <a:bodyPr/>
          <a:lstStyle/>
          <a:p>
            <a:fld id="{5D958377-8945-4A29-AA61-C5A798FE2322}" type="slidenum">
              <a:rPr lang="en-GB" smtClean="0"/>
              <a:t>13</a:t>
            </a:fld>
            <a:endParaRPr lang="en-GB"/>
          </a:p>
        </p:txBody>
      </p:sp>
    </p:spTree>
    <p:extLst>
      <p:ext uri="{BB962C8B-B14F-4D97-AF65-F5344CB8AC3E}">
        <p14:creationId xmlns:p14="http://schemas.microsoft.com/office/powerpoint/2010/main" val="1711353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BFF2-0FAE-11B0-2B25-9BBD80A72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6CA72-3371-E5E9-7E88-77558B2EEA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B520E-26F0-5481-F939-BF285512096F}"/>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38FF7CD-E5C9-4448-37DD-B11E8A4B2B82}"/>
              </a:ext>
            </a:extLst>
          </p:cNvPr>
          <p:cNvSpPr>
            <a:spLocks noGrp="1"/>
          </p:cNvSpPr>
          <p:nvPr>
            <p:ph type="sldNum" sz="quarter" idx="10"/>
          </p:nvPr>
        </p:nvSpPr>
        <p:spPr/>
        <p:txBody>
          <a:bodyPr/>
          <a:lstStyle/>
          <a:p>
            <a:fld id="{5D958377-8945-4A29-AA61-C5A798FE2322}" type="slidenum">
              <a:rPr lang="en-GB" smtClean="0"/>
              <a:t>14</a:t>
            </a:fld>
            <a:endParaRPr lang="en-GB"/>
          </a:p>
        </p:txBody>
      </p:sp>
    </p:spTree>
    <p:extLst>
      <p:ext uri="{BB962C8B-B14F-4D97-AF65-F5344CB8AC3E}">
        <p14:creationId xmlns:p14="http://schemas.microsoft.com/office/powerpoint/2010/main" val="1173183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6601E-81D3-C4C0-9D29-247FF8640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51B1BA-7CF1-36D7-62B5-5E97BFD44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88643-64DC-E72B-9CE7-798A79CC15CE}"/>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96E8A9-11E3-B713-B582-5E48B7C2C1C3}"/>
              </a:ext>
            </a:extLst>
          </p:cNvPr>
          <p:cNvSpPr>
            <a:spLocks noGrp="1"/>
          </p:cNvSpPr>
          <p:nvPr>
            <p:ph type="sldNum" sz="quarter" idx="10"/>
          </p:nvPr>
        </p:nvSpPr>
        <p:spPr/>
        <p:txBody>
          <a:bodyPr/>
          <a:lstStyle/>
          <a:p>
            <a:fld id="{5D958377-8945-4A29-AA61-C5A798FE2322}" type="slidenum">
              <a:rPr lang="en-GB" smtClean="0"/>
              <a:t>15</a:t>
            </a:fld>
            <a:endParaRPr lang="en-GB"/>
          </a:p>
        </p:txBody>
      </p:sp>
    </p:spTree>
    <p:extLst>
      <p:ext uri="{BB962C8B-B14F-4D97-AF65-F5344CB8AC3E}">
        <p14:creationId xmlns:p14="http://schemas.microsoft.com/office/powerpoint/2010/main" val="2015643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402BF-BC8E-0952-98A7-D297699B5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68EC7-45C8-4124-506D-121B69548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12D8E-061A-C833-B562-254270F3CF1B}"/>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A9B8C79-9C46-17A3-9EEC-9388AE192A79}"/>
              </a:ext>
            </a:extLst>
          </p:cNvPr>
          <p:cNvSpPr>
            <a:spLocks noGrp="1"/>
          </p:cNvSpPr>
          <p:nvPr>
            <p:ph type="sldNum" sz="quarter" idx="10"/>
          </p:nvPr>
        </p:nvSpPr>
        <p:spPr/>
        <p:txBody>
          <a:bodyPr/>
          <a:lstStyle/>
          <a:p>
            <a:fld id="{5D958377-8945-4A29-AA61-C5A798FE2322}" type="slidenum">
              <a:rPr lang="en-GB" smtClean="0"/>
              <a:t>16</a:t>
            </a:fld>
            <a:endParaRPr lang="en-GB"/>
          </a:p>
        </p:txBody>
      </p:sp>
    </p:spTree>
    <p:extLst>
      <p:ext uri="{BB962C8B-B14F-4D97-AF65-F5344CB8AC3E}">
        <p14:creationId xmlns:p14="http://schemas.microsoft.com/office/powerpoint/2010/main" val="945002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C5C2B-B9E2-7A50-1460-8F62D460E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E42BA-949E-FF98-990E-229C38DA4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DCD42-D9F3-4773-FEFB-EB8C885FDBD1}"/>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656C521-F7E9-5E9A-4796-546133465F4B}"/>
              </a:ext>
            </a:extLst>
          </p:cNvPr>
          <p:cNvSpPr>
            <a:spLocks noGrp="1"/>
          </p:cNvSpPr>
          <p:nvPr>
            <p:ph type="sldNum" sz="quarter" idx="10"/>
          </p:nvPr>
        </p:nvSpPr>
        <p:spPr/>
        <p:txBody>
          <a:bodyPr/>
          <a:lstStyle/>
          <a:p>
            <a:fld id="{5D958377-8945-4A29-AA61-C5A798FE2322}" type="slidenum">
              <a:rPr lang="en-GB" smtClean="0"/>
              <a:t>17</a:t>
            </a:fld>
            <a:endParaRPr lang="en-GB"/>
          </a:p>
        </p:txBody>
      </p:sp>
    </p:spTree>
    <p:extLst>
      <p:ext uri="{BB962C8B-B14F-4D97-AF65-F5344CB8AC3E}">
        <p14:creationId xmlns:p14="http://schemas.microsoft.com/office/powerpoint/2010/main" val="3906257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E58CD-4711-5291-142A-2344CE3E2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24128-446D-59C3-9E31-5CCD0113E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381171-AD8C-6879-B9E2-EC4272946D49}"/>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C6AB24E-A8A5-667F-88BB-3EF50049182B}"/>
              </a:ext>
            </a:extLst>
          </p:cNvPr>
          <p:cNvSpPr>
            <a:spLocks noGrp="1"/>
          </p:cNvSpPr>
          <p:nvPr>
            <p:ph type="sldNum" sz="quarter" idx="10"/>
          </p:nvPr>
        </p:nvSpPr>
        <p:spPr/>
        <p:txBody>
          <a:bodyPr/>
          <a:lstStyle/>
          <a:p>
            <a:fld id="{5D958377-8945-4A29-AA61-C5A798FE2322}" type="slidenum">
              <a:rPr lang="en-GB" smtClean="0"/>
              <a:t>18</a:t>
            </a:fld>
            <a:endParaRPr lang="en-GB"/>
          </a:p>
        </p:txBody>
      </p:sp>
    </p:spTree>
    <p:extLst>
      <p:ext uri="{BB962C8B-B14F-4D97-AF65-F5344CB8AC3E}">
        <p14:creationId xmlns:p14="http://schemas.microsoft.com/office/powerpoint/2010/main" val="1674427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28854-4E2B-7B67-DA31-8572EC6F4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92848-E723-BEEB-C1C8-6868780A9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DC936-5608-E9CF-FE2F-3C5B4D927A27}"/>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3C4F807-91FB-9536-7D8E-CD852A49528F}"/>
              </a:ext>
            </a:extLst>
          </p:cNvPr>
          <p:cNvSpPr>
            <a:spLocks noGrp="1"/>
          </p:cNvSpPr>
          <p:nvPr>
            <p:ph type="sldNum" sz="quarter" idx="10"/>
          </p:nvPr>
        </p:nvSpPr>
        <p:spPr/>
        <p:txBody>
          <a:bodyPr/>
          <a:lstStyle/>
          <a:p>
            <a:fld id="{5D958377-8945-4A29-AA61-C5A798FE2322}" type="slidenum">
              <a:rPr lang="en-GB" smtClean="0"/>
              <a:t>19</a:t>
            </a:fld>
            <a:endParaRPr lang="en-GB"/>
          </a:p>
        </p:txBody>
      </p:sp>
    </p:spTree>
    <p:extLst>
      <p:ext uri="{BB962C8B-B14F-4D97-AF65-F5344CB8AC3E}">
        <p14:creationId xmlns:p14="http://schemas.microsoft.com/office/powerpoint/2010/main" val="27708923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99C6-5F3B-7DA4-98AB-31A7C8984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449BF-396B-B1A0-83DE-65DD13EBF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71E53-8C3B-2F3B-46A2-5572A884EF84}"/>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16BA50E-1D43-E9B9-8DAD-43200C81DDB1}"/>
              </a:ext>
            </a:extLst>
          </p:cNvPr>
          <p:cNvSpPr>
            <a:spLocks noGrp="1"/>
          </p:cNvSpPr>
          <p:nvPr>
            <p:ph type="sldNum" sz="quarter" idx="10"/>
          </p:nvPr>
        </p:nvSpPr>
        <p:spPr/>
        <p:txBody>
          <a:bodyPr/>
          <a:lstStyle/>
          <a:p>
            <a:fld id="{5D958377-8945-4A29-AA61-C5A798FE2322}" type="slidenum">
              <a:rPr lang="en-GB" smtClean="0"/>
              <a:t>20</a:t>
            </a:fld>
            <a:endParaRPr lang="en-GB"/>
          </a:p>
        </p:txBody>
      </p:sp>
    </p:spTree>
    <p:extLst>
      <p:ext uri="{BB962C8B-B14F-4D97-AF65-F5344CB8AC3E}">
        <p14:creationId xmlns:p14="http://schemas.microsoft.com/office/powerpoint/2010/main" val="3523795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0D240-CA18-19AC-1347-65596E449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68FE4-720E-C642-5877-8F7ADC8CC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66E2F-3FC2-7591-D0E0-27DB19B81A01}"/>
              </a:ext>
            </a:extLst>
          </p:cNvPr>
          <p:cNvSpPr>
            <a:spLocks noGrp="1"/>
          </p:cNvSpPr>
          <p:nvPr>
            <p:ph type="body" idx="1"/>
          </p:nvPr>
        </p:nvSpPr>
        <p:spPr/>
        <p:txBody>
          <a:bodyPr/>
          <a:lstStyle/>
          <a:p>
            <a:r>
              <a:rPr lang="en-GB" b="0" baseline="0" dirty="0">
                <a:latin typeface="Arial" panose="020B0604020202020204" pitchFamily="34" charset="0"/>
                <a:cs typeface="Arial" panose="020B0604020202020204" pitchFamily="34" charset="0"/>
              </a:rPr>
              <a:t>If there are good automated tests, we can be very confident of the refactoring, upgrades.</a:t>
            </a:r>
          </a:p>
        </p:txBody>
      </p:sp>
      <p:sp>
        <p:nvSpPr>
          <p:cNvPr id="4" name="Slide Number Placeholder 3">
            <a:extLst>
              <a:ext uri="{FF2B5EF4-FFF2-40B4-BE49-F238E27FC236}">
                <a16:creationId xmlns:a16="http://schemas.microsoft.com/office/drawing/2014/main" id="{A60B432B-6DB4-EC07-7FC5-7722ADC343C4}"/>
              </a:ext>
            </a:extLst>
          </p:cNvPr>
          <p:cNvSpPr>
            <a:spLocks noGrp="1"/>
          </p:cNvSpPr>
          <p:nvPr>
            <p:ph type="sldNum" sz="quarter" idx="10"/>
          </p:nvPr>
        </p:nvSpPr>
        <p:spPr/>
        <p:txBody>
          <a:bodyPr/>
          <a:lstStyle/>
          <a:p>
            <a:fld id="{5D958377-8945-4A29-AA61-C5A798FE2322}" type="slidenum">
              <a:rPr lang="en-GB" smtClean="0"/>
              <a:t>21</a:t>
            </a:fld>
            <a:endParaRPr lang="en-GB"/>
          </a:p>
        </p:txBody>
      </p:sp>
    </p:spTree>
    <p:extLst>
      <p:ext uri="{BB962C8B-B14F-4D97-AF65-F5344CB8AC3E}">
        <p14:creationId xmlns:p14="http://schemas.microsoft.com/office/powerpoint/2010/main" val="4774379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92FA7-6A5F-6D2D-29A2-AC914131E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1501E-C555-E606-416A-E4BF71A4C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9D374-BD81-DC3A-2C9C-9F2BE4E88586}"/>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E87B34F-2086-E81E-942B-83E9A2721A75}"/>
              </a:ext>
            </a:extLst>
          </p:cNvPr>
          <p:cNvSpPr>
            <a:spLocks noGrp="1"/>
          </p:cNvSpPr>
          <p:nvPr>
            <p:ph type="sldNum" sz="quarter" idx="10"/>
          </p:nvPr>
        </p:nvSpPr>
        <p:spPr/>
        <p:txBody>
          <a:bodyPr/>
          <a:lstStyle/>
          <a:p>
            <a:fld id="{5D958377-8945-4A29-AA61-C5A798FE2322}" type="slidenum">
              <a:rPr lang="en-GB" smtClean="0"/>
              <a:t>22</a:t>
            </a:fld>
            <a:endParaRPr lang="en-GB"/>
          </a:p>
        </p:txBody>
      </p:sp>
    </p:spTree>
    <p:extLst>
      <p:ext uri="{BB962C8B-B14F-4D97-AF65-F5344CB8AC3E}">
        <p14:creationId xmlns:p14="http://schemas.microsoft.com/office/powerpoint/2010/main" val="1905248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61941-3145-245B-FDD3-E9B75D71C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A3D66-7A21-0304-B72C-F2BB3960A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74CBC-2EB8-90F2-6761-334C5B0DB550}"/>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2E425CF-0DB4-B101-1684-CF1CF44AD923}"/>
              </a:ext>
            </a:extLst>
          </p:cNvPr>
          <p:cNvSpPr>
            <a:spLocks noGrp="1"/>
          </p:cNvSpPr>
          <p:nvPr>
            <p:ph type="sldNum" sz="quarter" idx="10"/>
          </p:nvPr>
        </p:nvSpPr>
        <p:spPr/>
        <p:txBody>
          <a:bodyPr/>
          <a:lstStyle/>
          <a:p>
            <a:fld id="{5D958377-8945-4A29-AA61-C5A798FE2322}" type="slidenum">
              <a:rPr lang="en-GB" smtClean="0"/>
              <a:t>23</a:t>
            </a:fld>
            <a:endParaRPr lang="en-GB"/>
          </a:p>
        </p:txBody>
      </p:sp>
    </p:spTree>
    <p:extLst>
      <p:ext uri="{BB962C8B-B14F-4D97-AF65-F5344CB8AC3E}">
        <p14:creationId xmlns:p14="http://schemas.microsoft.com/office/powerpoint/2010/main" val="1981815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F7710-3A35-4174-7802-B01F39DBD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E3BE-DC88-37E1-A105-119DE4729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4E7C9-C5C0-42AC-BCB6-C64ABE432742}"/>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CA40B7B-E92D-152B-0AD0-2398E6797135}"/>
              </a:ext>
            </a:extLst>
          </p:cNvPr>
          <p:cNvSpPr>
            <a:spLocks noGrp="1"/>
          </p:cNvSpPr>
          <p:nvPr>
            <p:ph type="sldNum" sz="quarter" idx="10"/>
          </p:nvPr>
        </p:nvSpPr>
        <p:spPr/>
        <p:txBody>
          <a:bodyPr/>
          <a:lstStyle/>
          <a:p>
            <a:fld id="{5D958377-8945-4A29-AA61-C5A798FE2322}" type="slidenum">
              <a:rPr lang="en-GB" smtClean="0"/>
              <a:t>24</a:t>
            </a:fld>
            <a:endParaRPr lang="en-GB"/>
          </a:p>
        </p:txBody>
      </p:sp>
    </p:spTree>
    <p:extLst>
      <p:ext uri="{BB962C8B-B14F-4D97-AF65-F5344CB8AC3E}">
        <p14:creationId xmlns:p14="http://schemas.microsoft.com/office/powerpoint/2010/main" val="4254961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79F0-817F-A7C7-9E1E-82EC6B94D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860A2-ADA1-B82B-172C-B4A6C0A35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42434-2E19-7B97-1D35-A32321077189}"/>
              </a:ext>
            </a:extLst>
          </p:cNvPr>
          <p:cNvSpPr>
            <a:spLocks noGrp="1"/>
          </p:cNvSpPr>
          <p:nvPr>
            <p:ph type="body" idx="1"/>
          </p:nvPr>
        </p:nvSpPr>
        <p:spPr/>
        <p:txBody>
          <a:bodyPr/>
          <a:lstStyle/>
          <a:p>
            <a:pPr marL="228600" indent="-228600">
              <a:buFont typeface="+mj-lt"/>
              <a:buAutoNum type="arabicPeriod"/>
            </a:pPr>
            <a:r>
              <a:rPr lang="en-GB" b="0" baseline="0" dirty="0">
                <a:latin typeface="Arial" panose="020B0604020202020204" pitchFamily="34" charset="0"/>
                <a:cs typeface="Arial" panose="020B0604020202020204" pitchFamily="34" charset="0"/>
              </a:rPr>
              <a:t>Microsoft says 30% of the code is written by AI.</a:t>
            </a:r>
          </a:p>
          <a:p>
            <a:pPr marL="228600" indent="-228600">
              <a:buFont typeface="+mj-lt"/>
              <a:buAutoNum type="arabicPeriod"/>
            </a:pPr>
            <a:r>
              <a:rPr lang="en-GB" b="0" baseline="0" dirty="0">
                <a:latin typeface="Arial" panose="020B0604020202020204" pitchFamily="34" charset="0"/>
                <a:cs typeface="Arial" panose="020B0604020202020204" pitchFamily="34" charset="0"/>
              </a:rPr>
              <a:t>The Code churn doubled after AI tools are introduced</a:t>
            </a:r>
          </a:p>
          <a:p>
            <a:pPr marL="228600" indent="-228600">
              <a:buFont typeface="+mj-lt"/>
              <a:buAutoNum type="arabicPeriod"/>
            </a:pPr>
            <a:r>
              <a:rPr lang="en-GB" dirty="0">
                <a:latin typeface="Arial" panose="020B0604020202020204" pitchFamily="34" charset="0"/>
                <a:cs typeface="Arial" panose="020B0604020202020204" pitchFamily="34" charset="0"/>
              </a:rPr>
              <a:t>Microsoft’s researchers found that developers are missing 40% of bugs in the AI generated code.</a:t>
            </a:r>
          </a:p>
          <a:p>
            <a:pPr marL="228600" indent="-228600">
              <a:buFont typeface="+mj-lt"/>
              <a:buAutoNum type="arabicPeriod"/>
            </a:pPr>
            <a:r>
              <a:rPr lang="en-GB" dirty="0">
                <a:latin typeface="Arial" panose="020B0604020202020204" pitchFamily="34" charset="0"/>
                <a:cs typeface="Arial" panose="020B0604020202020204" pitchFamily="34" charset="0"/>
              </a:rPr>
              <a:t>It seems to be that we could get some percentage of productivity boost with less effort. If want to get even more improvements, the effort is more.</a:t>
            </a:r>
          </a:p>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B56E6B1-71A1-5106-8AE4-66C18D104EE3}"/>
              </a:ext>
            </a:extLst>
          </p:cNvPr>
          <p:cNvSpPr>
            <a:spLocks noGrp="1"/>
          </p:cNvSpPr>
          <p:nvPr>
            <p:ph type="sldNum" sz="quarter" idx="10"/>
          </p:nvPr>
        </p:nvSpPr>
        <p:spPr/>
        <p:txBody>
          <a:bodyPr/>
          <a:lstStyle/>
          <a:p>
            <a:fld id="{5D958377-8945-4A29-AA61-C5A798FE2322}" type="slidenum">
              <a:rPr lang="en-GB" smtClean="0"/>
              <a:t>25</a:t>
            </a:fld>
            <a:endParaRPr lang="en-GB"/>
          </a:p>
        </p:txBody>
      </p:sp>
    </p:spTree>
    <p:extLst>
      <p:ext uri="{BB962C8B-B14F-4D97-AF65-F5344CB8AC3E}">
        <p14:creationId xmlns:p14="http://schemas.microsoft.com/office/powerpoint/2010/main" val="3188657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92A82-35A7-ABAA-AF7E-CD3C0E9AF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3E3F4-DBBA-2FC8-2D52-2B120D67B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FDE0C-3845-4B95-E0C0-EE77AC92B53A}"/>
              </a:ext>
            </a:extLst>
          </p:cNvPr>
          <p:cNvSpPr>
            <a:spLocks noGrp="1"/>
          </p:cNvSpPr>
          <p:nvPr>
            <p:ph type="body" idx="1"/>
          </p:nvPr>
        </p:nvSpPr>
        <p:spPr/>
        <p:txBody>
          <a:bodyPr/>
          <a:lstStyle/>
          <a:p>
            <a:endParaRPr lang="en-GB" b="0" baseline="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7197ABA-D470-8D66-B89D-05E01D0D28FF}"/>
              </a:ext>
            </a:extLst>
          </p:cNvPr>
          <p:cNvSpPr>
            <a:spLocks noGrp="1"/>
          </p:cNvSpPr>
          <p:nvPr>
            <p:ph type="sldNum" sz="quarter" idx="10"/>
          </p:nvPr>
        </p:nvSpPr>
        <p:spPr/>
        <p:txBody>
          <a:bodyPr/>
          <a:lstStyle/>
          <a:p>
            <a:fld id="{5D958377-8945-4A29-AA61-C5A798FE2322}" type="slidenum">
              <a:rPr lang="en-GB" smtClean="0"/>
              <a:t>26</a:t>
            </a:fld>
            <a:endParaRPr lang="en-GB"/>
          </a:p>
        </p:txBody>
      </p:sp>
    </p:spTree>
    <p:extLst>
      <p:ext uri="{BB962C8B-B14F-4D97-AF65-F5344CB8AC3E}">
        <p14:creationId xmlns:p14="http://schemas.microsoft.com/office/powerpoint/2010/main" val="3015413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58DA4E-9102-8846-8A07-CB076FB7D4EF}"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2FDEB-9A7F-F844-9350-A7247DF15FB1}"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D40CD2-DEB6-274C-A4AD-01F641434204}" type="datetime1">
              <a:rPr lang="en-US" smtClean="0"/>
              <a:t>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34EFFE-3ABE-9B46-98B5-6BD487E20557}" type="datetime1">
              <a:rPr lang="en-US" smtClean="0"/>
              <a:t>2/9/26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E82423-071D-5444-B95F-BFB1C11CF8C2}" type="datetime1">
              <a:rPr lang="en-US" smtClean="0"/>
              <a:t>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618F7-0F82-8C44-8DB9-EAACE38C7A28}" type="datetime1">
              <a:rPr lang="en-US" smtClean="0"/>
              <a:t>2/9/26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BBF730-2437-F24C-A573-A723E1C02EC6}" type="datetime1">
              <a:rPr lang="en-US" smtClean="0"/>
              <a:t>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0969B4-94EF-4548-A976-E821AF13D2CC}" type="datetime1">
              <a:rPr lang="en-US" smtClean="0"/>
              <a:t>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14723F-2F4B-0141-BBDF-DDE174A90A1B}"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F43499-912D-B442-A7AB-B463AF045ECA}"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600687-B64B-3148-B3B5-B0745D4EE20F}"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42F97-DFEE-A949-95A0-A9B4DD8AA3EC}"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5FDA3D-EC4F-804C-B2D6-3D966C689C7C}"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F1CB4A-2909-A44B-BA32-D1F2D9CF4C7E}"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BC75A1-EA02-544F-820B-2CF18DB4A70B}" type="datetime1">
              <a:rPr lang="en-US" smtClean="0"/>
              <a:t>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FCC8043-76E4-914B-B9CB-3C534DE79F25}" type="datetime1">
              <a:rPr lang="en-US" smtClean="0"/>
              <a:t>2/9/26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ri-chalam/ai-tech-notes/blob/main/articles/ai-assisted-java-upgrade/java-17-to-21/instructions/java-17-to-21-upgrade-instructions.md"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ri-chalam/spring-petclinic-ai-java-upgrade/blob/main/docs/ai-tasks/instructions/instruction-building-prompts.md#iterative-prompt---gradle-wrapper-upgrade-if-required"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ri-chalam/ai-tech-notes/blob/main/articles/ai-assisted-java-upgrade/java-17-to-21/instructions/java-17-to-21-upgrade-instructions.md#logging-requirement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github.com/sri-chalam/ai-tech-notes/blob/main/articles/ai-assisted-java-upgrade/java-17-to-21/instructions/java-17-to-21-upgrade-instructions.md#step-2-verify-current-java-version-prerequisite-check"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ri-chalam/ai-tech-notes/blob/main/articles/ai-assisted-java-upgrade/java-17-to-21/instructions/java-17-to-21-upgrade-instructions.md"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github.com/sri-chalam/ai-tech-notes/blob/main/articles/ai-assisted-java-upgrade/java-21-to-25/instructions/java-21-to-25-upgrade-instructions.md"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sri-chalam/ai-tech-notes/blob/main/articles/ai-assisted-java-upgrade/java-21-to-25/sample-logs/java-21-to-25-upgrade-log-1.md"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github.com/sri-chalam/ai-tech-notes/blob/main/articles/ai-assisted-java-upgrade/java-17-to-21/sample-logs/java-17-to-21-upgrade-log-1.md"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docs.openrewrite.org/" TargetMode="External"/><Relationship Id="rId7" Type="http://schemas.openxmlformats.org/officeDocument/2006/relationships/hyperlink" Target="https://github.com/sri-chalam/ai-tech-notes/blob/main/articles/ai-assisted-java-upgrade/java-21-to-25/instructions/java-21-to-25-upgrade-instructions.md"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github.com/sri-chalam/ai-tech-notes/blob/main/articles/ai-assisted-java-upgrade/java-17-to-21/instructions/java-17-to-21-upgrade-instructions.md#step-2-verify-current-java-version-prerequisite-check" TargetMode="External"/><Relationship Id="rId5" Type="http://schemas.openxmlformats.org/officeDocument/2006/relationships/hyperlink" Target="https://sri-chalam.medium.com/ai-assisted-java-upgrades-a-hybrid-approach-with-ai-instructions-and-openrewrite-669dc89d39b3" TargetMode="External"/><Relationship Id="rId4" Type="http://schemas.openxmlformats.org/officeDocument/2006/relationships/hyperlink" Target="https://docs.openrewrite.org/recipes/java/migrate/la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7FD94-41F5-5DFC-2585-E621F9B340DD}"/>
              </a:ext>
            </a:extLst>
          </p:cNvPr>
          <p:cNvSpPr>
            <a:spLocks noGrp="1"/>
          </p:cNvSpPr>
          <p:nvPr>
            <p:ph type="ctrTitle"/>
          </p:nvPr>
        </p:nvSpPr>
        <p:spPr>
          <a:xfrm>
            <a:off x="1507067" y="2176670"/>
            <a:ext cx="7766936" cy="1874166"/>
          </a:xfrm>
        </p:spPr>
        <p:txBody>
          <a:bodyPr/>
          <a:lstStyle/>
          <a:p>
            <a:pPr algn="ctr"/>
            <a:r>
              <a:rPr lang="en-US" sz="3600" dirty="0"/>
              <a:t>AI Assisted Java Upgrades</a:t>
            </a:r>
          </a:p>
        </p:txBody>
      </p:sp>
      <p:sp>
        <p:nvSpPr>
          <p:cNvPr id="3" name="Subtitle 2">
            <a:extLst>
              <a:ext uri="{FF2B5EF4-FFF2-40B4-BE49-F238E27FC236}">
                <a16:creationId xmlns:a16="http://schemas.microsoft.com/office/drawing/2014/main" id="{43FF058D-F817-C1D5-0A69-875728800DF9}"/>
              </a:ext>
            </a:extLst>
          </p:cNvPr>
          <p:cNvSpPr>
            <a:spLocks noGrp="1"/>
          </p:cNvSpPr>
          <p:nvPr>
            <p:ph type="subTitle" idx="1"/>
          </p:nvPr>
        </p:nvSpPr>
        <p:spPr/>
        <p:txBody>
          <a:bodyPr/>
          <a:lstStyle/>
          <a:p>
            <a:pPr algn="ctr"/>
            <a:r>
              <a:rPr lang="en-US" b="1" dirty="0">
                <a:solidFill>
                  <a:schemeClr val="accent2">
                    <a:lumMod val="75000"/>
                  </a:schemeClr>
                </a:solidFill>
              </a:rPr>
              <a:t>A Hybrid Approach with AI Instructions and </a:t>
            </a:r>
            <a:r>
              <a:rPr lang="en-US" b="1" dirty="0" err="1">
                <a:solidFill>
                  <a:schemeClr val="accent2">
                    <a:lumMod val="75000"/>
                  </a:schemeClr>
                </a:solidFill>
              </a:rPr>
              <a:t>OpenRewrite</a:t>
            </a:r>
            <a:endParaRPr lang="en-US" b="1" dirty="0">
              <a:solidFill>
                <a:schemeClr val="accent2">
                  <a:lumMod val="75000"/>
                </a:schemeClr>
              </a:solidFill>
            </a:endParaRPr>
          </a:p>
          <a:p>
            <a:endParaRPr lang="en-US" dirty="0"/>
          </a:p>
        </p:txBody>
      </p:sp>
      <p:sp>
        <p:nvSpPr>
          <p:cNvPr id="4" name="Slide Number Placeholder 3">
            <a:extLst>
              <a:ext uri="{FF2B5EF4-FFF2-40B4-BE49-F238E27FC236}">
                <a16:creationId xmlns:a16="http://schemas.microsoft.com/office/drawing/2014/main" id="{75C82422-F53F-936E-94F9-10EC49EC4614}"/>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115581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Where AI Fits in Software Development</a:t>
            </a:r>
            <a:endParaRPr lang="en-GB" sz="2000" dirty="0"/>
          </a:p>
          <a:p>
            <a:pPr>
              <a:buFont typeface="Wingdings" pitchFamily="2" charset="2"/>
              <a:buChar char="v"/>
            </a:pPr>
            <a:r>
              <a:rPr lang="en-US" sz="2000" dirty="0"/>
              <a:t>The Need for Detailed AI Instructions</a:t>
            </a:r>
            <a:endParaRPr lang="en-GB" sz="2000" dirty="0"/>
          </a:p>
          <a:p>
            <a:pPr>
              <a:buFont typeface="Wingdings" pitchFamily="2" charset="2"/>
              <a:buChar char="v"/>
            </a:pPr>
            <a:r>
              <a:rPr lang="en-US" sz="2000" dirty="0"/>
              <a:t>Approach 1: </a:t>
            </a:r>
            <a:r>
              <a:rPr lang="en-US" sz="2000" dirty="0" err="1"/>
              <a:t>OpenRewrite</a:t>
            </a:r>
            <a:r>
              <a:rPr lang="en-US" sz="2000" dirty="0"/>
              <a:t> Framework</a:t>
            </a:r>
          </a:p>
          <a:p>
            <a:pPr>
              <a:buFont typeface="Wingdings" pitchFamily="2" charset="2"/>
              <a:buChar char="v"/>
            </a:pPr>
            <a:r>
              <a:rPr lang="en-US" sz="2000" dirty="0"/>
              <a:t>Approach 2: AI Agents</a:t>
            </a:r>
            <a:endParaRPr lang="en-GB" sz="2000" dirty="0"/>
          </a:p>
          <a:p>
            <a:pPr>
              <a:buFont typeface="Wingdings" pitchFamily="2" charset="2"/>
              <a:buChar char="v"/>
            </a:pPr>
            <a:r>
              <a:rPr lang="en-GB" sz="2000" dirty="0"/>
              <a:t>Hybrid Approach</a:t>
            </a:r>
          </a:p>
          <a:p>
            <a:pPr>
              <a:buFont typeface="Wingdings" pitchFamily="2" charset="2"/>
              <a:buChar char="v"/>
            </a:pPr>
            <a:r>
              <a:rPr lang="en-US" sz="2000" dirty="0"/>
              <a:t>AI Instruction Files – Structure and Best Practices</a:t>
            </a:r>
          </a:p>
          <a:p>
            <a:pPr>
              <a:buFont typeface="Wingdings" pitchFamily="2" charset="2"/>
              <a:buChar char="v"/>
            </a:pPr>
            <a:r>
              <a:rPr lang="en-US" sz="2000" dirty="0"/>
              <a:t>Steps in the Java Upgrade </a:t>
            </a:r>
            <a:endParaRPr lang="en-GB" sz="2000" dirty="0"/>
          </a:p>
          <a:p>
            <a:pPr>
              <a:buFont typeface="Wingdings" pitchFamily="2" charset="2"/>
              <a:buChar char="v"/>
            </a:pPr>
            <a:r>
              <a:rPr lang="en-US" sz="2000" dirty="0"/>
              <a:t>Review and Post-Upgrade Validation</a:t>
            </a:r>
            <a:endParaRPr lang="en-GB" sz="2000" dirty="0"/>
          </a:p>
          <a:p>
            <a:pPr>
              <a:buFont typeface="Wingdings" pitchFamily="2" charset="2"/>
              <a:buChar char="v"/>
            </a:pPr>
            <a:r>
              <a:rPr lang="en-GB" sz="2000" dirty="0"/>
              <a:t>Lessons Learned</a:t>
            </a:r>
          </a:p>
          <a:p>
            <a:pPr>
              <a:buFont typeface="Wingdings" pitchFamily="2" charset="2"/>
              <a:buChar char="v"/>
            </a:pPr>
            <a:r>
              <a:rPr lang="en-GB" sz="2000" dirty="0"/>
              <a:t>Closing Thoughts</a:t>
            </a:r>
          </a:p>
          <a:p>
            <a:pPr marL="0" indent="0">
              <a:buNone/>
            </a:pPr>
            <a:endParaRPr lang="en-GB" sz="2000" dirty="0"/>
          </a:p>
          <a:p>
            <a:pPr>
              <a:buFont typeface="Wingdings" pitchFamily="2" charset="2"/>
              <a:buChar char="v"/>
            </a:pPr>
            <a:endParaRPr lang="en-GB" sz="2000" dirty="0"/>
          </a:p>
        </p:txBody>
      </p:sp>
      <p:sp>
        <p:nvSpPr>
          <p:cNvPr id="5" name="Title 4"/>
          <p:cNvSpPr>
            <a:spLocks noGrp="1"/>
          </p:cNvSpPr>
          <p:nvPr>
            <p:ph type="title"/>
          </p:nvPr>
        </p:nvSpPr>
        <p:spPr>
          <a:xfrm>
            <a:off x="467999" y="528034"/>
            <a:ext cx="11257200" cy="515576"/>
          </a:xfrm>
        </p:spPr>
        <p:txBody>
          <a:bodyPr>
            <a:normAutofit fontScale="90000"/>
          </a:bodyPr>
          <a:lstStyle/>
          <a:p>
            <a:r>
              <a:rPr lang="en-US" sz="3000" dirty="0"/>
              <a:t>Agenda</a:t>
            </a:r>
            <a:endParaRPr lang="en-GB" sz="3000" dirty="0"/>
          </a:p>
        </p:txBody>
      </p:sp>
      <p:sp>
        <p:nvSpPr>
          <p:cNvPr id="4" name="TextBox 3">
            <a:extLst>
              <a:ext uri="{FF2B5EF4-FFF2-40B4-BE49-F238E27FC236}">
                <a16:creationId xmlns:a16="http://schemas.microsoft.com/office/drawing/2014/main" id="{262F6F60-E733-7328-5703-F09FE75A5074}"/>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BCF884A2-6BA2-5BD5-3570-9505765D8B72}"/>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94778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534E-E5EE-F3F4-8303-BE16A0BE9E3D}"/>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7F890B1-C748-11C1-657D-D85C299AEE06}"/>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Where AI Can Help the Most</a:t>
            </a:r>
          </a:p>
          <a:p>
            <a:pPr lvl="1">
              <a:buFont typeface="Wingdings" pitchFamily="2" charset="2"/>
              <a:buChar char="v"/>
            </a:pPr>
            <a:r>
              <a:rPr lang="en-US" sz="1800" b="1" dirty="0">
                <a:solidFill>
                  <a:schemeClr val="accent2">
                    <a:lumMod val="75000"/>
                  </a:schemeClr>
                </a:solidFill>
              </a:rPr>
              <a:t>Bouncing off Ideas</a:t>
            </a:r>
          </a:p>
          <a:p>
            <a:pPr lvl="1">
              <a:buFont typeface="Wingdings" pitchFamily="2" charset="2"/>
              <a:buChar char="v"/>
            </a:pPr>
            <a:r>
              <a:rPr lang="en-US" sz="1800" dirty="0"/>
              <a:t>Learning new concepts</a:t>
            </a:r>
          </a:p>
          <a:p>
            <a:pPr lvl="1">
              <a:buFont typeface="Wingdings" pitchFamily="2" charset="2"/>
              <a:buChar char="v"/>
            </a:pPr>
            <a:r>
              <a:rPr lang="en-US" sz="1800" b="1" dirty="0">
                <a:solidFill>
                  <a:schemeClr val="accent2">
                    <a:lumMod val="75000"/>
                  </a:schemeClr>
                </a:solidFill>
              </a:rPr>
              <a:t>Refactoring code</a:t>
            </a:r>
          </a:p>
          <a:p>
            <a:pPr lvl="1">
              <a:buFont typeface="Wingdings" pitchFamily="2" charset="2"/>
              <a:buChar char="v"/>
            </a:pPr>
            <a:r>
              <a:rPr lang="en-US" sz="1800" b="1" dirty="0">
                <a:solidFill>
                  <a:schemeClr val="accent2">
                    <a:lumMod val="75000"/>
                  </a:schemeClr>
                </a:solidFill>
              </a:rPr>
              <a:t>Automating repetitive tasks</a:t>
            </a:r>
            <a:endParaRPr lang="en-US" sz="2000" dirty="0"/>
          </a:p>
          <a:p>
            <a:pPr>
              <a:buFont typeface="Wingdings" pitchFamily="2" charset="2"/>
              <a:buChar char="v"/>
            </a:pPr>
            <a:r>
              <a:rPr lang="en-US" sz="2000" dirty="0"/>
              <a:t>Where AI Can Help A bit Less</a:t>
            </a:r>
          </a:p>
          <a:p>
            <a:pPr lvl="1">
              <a:buFont typeface="Wingdings" pitchFamily="2" charset="2"/>
              <a:buChar char="v"/>
            </a:pPr>
            <a:r>
              <a:rPr lang="en-US" sz="1800" dirty="0"/>
              <a:t>Vibe coding – may be good for POC, but not for Enterprise applications</a:t>
            </a:r>
          </a:p>
          <a:p>
            <a:pPr lvl="1">
              <a:buFont typeface="Wingdings" pitchFamily="2" charset="2"/>
              <a:buChar char="v"/>
            </a:pPr>
            <a:r>
              <a:rPr lang="en-US" sz="1800" dirty="0"/>
              <a:t>Enterprise applications need quite some best practices, org specific instructions</a:t>
            </a:r>
          </a:p>
          <a:p>
            <a:pPr lvl="2">
              <a:buFont typeface="Wingdings" pitchFamily="2" charset="2"/>
              <a:buChar char="v"/>
            </a:pPr>
            <a:r>
              <a:rPr lang="en-US" sz="1600" dirty="0"/>
              <a:t>Need thousands of lines of instructions, best practice, org specific conventions</a:t>
            </a:r>
          </a:p>
          <a:p>
            <a:pPr>
              <a:buFont typeface="Wingdings" pitchFamily="2" charset="2"/>
              <a:buChar char="v"/>
            </a:pPr>
            <a:r>
              <a:rPr lang="en-US" sz="2000" dirty="0"/>
              <a:t>Let's see </a:t>
            </a:r>
            <a:r>
              <a:rPr lang="en-US" sz="2000" b="1" dirty="0">
                <a:solidFill>
                  <a:schemeClr val="accent2">
                    <a:lumMod val="75000"/>
                  </a:schemeClr>
                </a:solidFill>
              </a:rPr>
              <a:t>how refactoring and automation apply</a:t>
            </a:r>
            <a:r>
              <a:rPr lang="en-US" sz="2000" dirty="0"/>
              <a:t> to a real-world use case: upgrading Java versions</a:t>
            </a:r>
            <a:endParaRPr lang="en-GB" sz="2000" dirty="0"/>
          </a:p>
        </p:txBody>
      </p:sp>
      <p:sp>
        <p:nvSpPr>
          <p:cNvPr id="5" name="Title 4">
            <a:extLst>
              <a:ext uri="{FF2B5EF4-FFF2-40B4-BE49-F238E27FC236}">
                <a16:creationId xmlns:a16="http://schemas.microsoft.com/office/drawing/2014/main" id="{70DAA1C7-9B49-114A-6849-8EF8411E105D}"/>
              </a:ext>
            </a:extLst>
          </p:cNvPr>
          <p:cNvSpPr>
            <a:spLocks noGrp="1"/>
          </p:cNvSpPr>
          <p:nvPr>
            <p:ph type="title"/>
          </p:nvPr>
        </p:nvSpPr>
        <p:spPr>
          <a:xfrm>
            <a:off x="467999" y="528034"/>
            <a:ext cx="11257200" cy="515576"/>
          </a:xfrm>
        </p:spPr>
        <p:txBody>
          <a:bodyPr>
            <a:normAutofit fontScale="90000"/>
          </a:bodyPr>
          <a:lstStyle/>
          <a:p>
            <a:r>
              <a:rPr lang="en-US" sz="3200" dirty="0"/>
              <a:t>Where AI Fits in Software Development</a:t>
            </a:r>
            <a:endParaRPr lang="en-GB" sz="3000" dirty="0"/>
          </a:p>
        </p:txBody>
      </p:sp>
      <p:sp>
        <p:nvSpPr>
          <p:cNvPr id="4" name="TextBox 3">
            <a:extLst>
              <a:ext uri="{FF2B5EF4-FFF2-40B4-BE49-F238E27FC236}">
                <a16:creationId xmlns:a16="http://schemas.microsoft.com/office/drawing/2014/main" id="{59E1D7D6-64A7-0610-3EE9-985494B2069F}"/>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06A2002-4B7E-E165-7825-BBD00448F09F}"/>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07538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B2AB9-0690-1F6A-7AEF-F94DB88D016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FBF418D8-DC75-B4DD-028E-C7AA0C7A097D}"/>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Will a simple prompt like this work? “upgrade this project from Java 17 to Java 21”</a:t>
            </a:r>
            <a:r>
              <a:rPr lang="en-US" sz="2400" dirty="0"/>
              <a:t> </a:t>
            </a:r>
          </a:p>
          <a:p>
            <a:pPr lvl="1">
              <a:buFont typeface="Wingdings" pitchFamily="2" charset="2"/>
              <a:buChar char="v"/>
            </a:pPr>
            <a:r>
              <a:rPr lang="en-US" sz="1800" dirty="0"/>
              <a:t>Upgrades a few libraries</a:t>
            </a:r>
          </a:p>
          <a:p>
            <a:pPr lvl="1">
              <a:buFont typeface="Wingdings" pitchFamily="2" charset="2"/>
              <a:buChar char="v"/>
            </a:pPr>
            <a:r>
              <a:rPr lang="en-US" sz="1800" dirty="0"/>
              <a:t>Doesn’t handle end-to-end automation</a:t>
            </a:r>
          </a:p>
          <a:p>
            <a:pPr lvl="2">
              <a:buFont typeface="Wingdings" pitchFamily="2" charset="2"/>
              <a:buChar char="v"/>
            </a:pPr>
            <a:r>
              <a:rPr lang="en-US" sz="1600" dirty="0"/>
              <a:t>Doesn't verify or install the required JDK</a:t>
            </a:r>
          </a:p>
          <a:p>
            <a:pPr>
              <a:buFont typeface="Wingdings" pitchFamily="2" charset="2"/>
              <a:buChar char="v"/>
            </a:pPr>
            <a:r>
              <a:rPr lang="en-US" sz="2000" dirty="0"/>
              <a:t>The limitations of the above prompt:</a:t>
            </a:r>
          </a:p>
          <a:p>
            <a:pPr lvl="1">
              <a:buFont typeface="Wingdings" pitchFamily="2" charset="2"/>
              <a:buChar char="v"/>
            </a:pPr>
            <a:r>
              <a:rPr lang="en-US" sz="1800" dirty="0"/>
              <a:t>The prompt is not detailed</a:t>
            </a:r>
          </a:p>
          <a:p>
            <a:pPr lvl="1">
              <a:buFont typeface="Wingdings" pitchFamily="2" charset="2"/>
              <a:buChar char="v"/>
            </a:pPr>
            <a:r>
              <a:rPr lang="en-US" sz="1800" dirty="0"/>
              <a:t>Which Java distribution? Amazon </a:t>
            </a:r>
            <a:r>
              <a:rPr lang="en-US" sz="1800" dirty="0" err="1"/>
              <a:t>Corretto</a:t>
            </a:r>
            <a:r>
              <a:rPr lang="en-US" sz="1800" dirty="0"/>
              <a:t>, Microsoft, Red Hat, Azul?</a:t>
            </a:r>
          </a:p>
          <a:p>
            <a:pPr lvl="1">
              <a:buFont typeface="Wingdings" pitchFamily="2" charset="2"/>
              <a:buChar char="v"/>
            </a:pPr>
            <a:r>
              <a:rPr lang="en-US" sz="1800" dirty="0"/>
              <a:t>Which package manager to use?</a:t>
            </a:r>
          </a:p>
          <a:p>
            <a:pPr lvl="1">
              <a:buFont typeface="Wingdings" pitchFamily="2" charset="2"/>
              <a:buChar char="v"/>
            </a:pPr>
            <a:r>
              <a:rPr lang="en-US" sz="1800" dirty="0"/>
              <a:t>Organization-specific requirements like </a:t>
            </a:r>
          </a:p>
          <a:p>
            <a:pPr lvl="2">
              <a:buFont typeface="Wingdings" pitchFamily="2" charset="2"/>
              <a:buChar char="v"/>
            </a:pPr>
            <a:r>
              <a:rPr lang="en-US" sz="1600" dirty="0"/>
              <a:t>Trusted certificates</a:t>
            </a:r>
          </a:p>
          <a:p>
            <a:pPr lvl="2">
              <a:buFont typeface="Wingdings" pitchFamily="2" charset="2"/>
              <a:buChar char="v"/>
            </a:pPr>
            <a:r>
              <a:rPr lang="en-US" sz="1600" dirty="0"/>
              <a:t>Installation directory </a:t>
            </a:r>
            <a:endParaRPr lang="en-GB" sz="1600" dirty="0"/>
          </a:p>
        </p:txBody>
      </p:sp>
      <p:sp>
        <p:nvSpPr>
          <p:cNvPr id="5" name="Title 4">
            <a:extLst>
              <a:ext uri="{FF2B5EF4-FFF2-40B4-BE49-F238E27FC236}">
                <a16:creationId xmlns:a16="http://schemas.microsoft.com/office/drawing/2014/main" id="{057764E5-D2BB-0375-6A2E-B736CFFF7B01}"/>
              </a:ext>
            </a:extLst>
          </p:cNvPr>
          <p:cNvSpPr>
            <a:spLocks noGrp="1"/>
          </p:cNvSpPr>
          <p:nvPr>
            <p:ph type="title"/>
          </p:nvPr>
        </p:nvSpPr>
        <p:spPr>
          <a:xfrm>
            <a:off x="467999" y="528034"/>
            <a:ext cx="11257200" cy="515576"/>
          </a:xfrm>
        </p:spPr>
        <p:txBody>
          <a:bodyPr>
            <a:normAutofit fontScale="90000"/>
          </a:bodyPr>
          <a:lstStyle/>
          <a:p>
            <a:r>
              <a:rPr lang="en-US" sz="3000" dirty="0"/>
              <a:t>Java Upgrade - Can a Simple Prompt Work?</a:t>
            </a:r>
            <a:endParaRPr lang="en-GB" sz="3000" dirty="0"/>
          </a:p>
        </p:txBody>
      </p:sp>
      <p:sp>
        <p:nvSpPr>
          <p:cNvPr id="4" name="TextBox 3">
            <a:extLst>
              <a:ext uri="{FF2B5EF4-FFF2-40B4-BE49-F238E27FC236}">
                <a16:creationId xmlns:a16="http://schemas.microsoft.com/office/drawing/2014/main" id="{9D7A2FFF-561E-DDE0-AC7E-51B68FE1B549}"/>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5D2284E-42BE-3A63-05A8-6F16FCEAA76F}"/>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93484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97F87-4483-868D-5B7A-F046FE0DAA7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932AB9C-E1CF-B514-526C-27BCEE1D324B}"/>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Hybrid Approach</a:t>
            </a:r>
          </a:p>
          <a:p>
            <a:pPr lvl="1">
              <a:buFont typeface="Wingdings" pitchFamily="2" charset="2"/>
              <a:buChar char="v"/>
            </a:pPr>
            <a:r>
              <a:rPr lang="en-US" sz="1800" b="1" dirty="0">
                <a:solidFill>
                  <a:schemeClr val="accent2">
                    <a:lumMod val="75000"/>
                  </a:schemeClr>
                </a:solidFill>
              </a:rPr>
              <a:t>Use good features of AI and Open Rewrite</a:t>
            </a:r>
          </a:p>
          <a:p>
            <a:pPr lvl="1">
              <a:buFont typeface="Wingdings" pitchFamily="2" charset="2"/>
              <a:buChar char="v"/>
            </a:pPr>
            <a:r>
              <a:rPr lang="en-US" sz="1800" dirty="0"/>
              <a:t>Use AI Build/Fix Loop</a:t>
            </a:r>
          </a:p>
          <a:p>
            <a:pPr>
              <a:buFont typeface="Wingdings" pitchFamily="2" charset="2"/>
              <a:buChar char="v"/>
            </a:pPr>
            <a:r>
              <a:rPr lang="en-US" sz="2000" dirty="0"/>
              <a:t>Not only upgrade – install JDK</a:t>
            </a:r>
          </a:p>
          <a:p>
            <a:pPr>
              <a:buFont typeface="Wingdings" pitchFamily="2" charset="2"/>
              <a:buChar char="v"/>
            </a:pPr>
            <a:r>
              <a:rPr lang="en-US" sz="2000" dirty="0"/>
              <a:t>Use Organization specific conventions</a:t>
            </a:r>
          </a:p>
          <a:p>
            <a:pPr lvl="1">
              <a:buFont typeface="Wingdings" pitchFamily="2" charset="2"/>
              <a:buChar char="v"/>
            </a:pPr>
            <a:r>
              <a:rPr lang="en-US" sz="1800" dirty="0"/>
              <a:t>Install under directory with permissions</a:t>
            </a:r>
          </a:p>
          <a:p>
            <a:pPr lvl="1">
              <a:buFont typeface="Wingdings" pitchFamily="2" charset="2"/>
              <a:buChar char="v"/>
            </a:pPr>
            <a:r>
              <a:rPr lang="en-US" sz="1800" dirty="0"/>
              <a:t>Import Organization certificates into new JDK</a:t>
            </a:r>
            <a:r>
              <a:rPr lang="en-US" sz="2200" dirty="0"/>
              <a:t> </a:t>
            </a:r>
          </a:p>
          <a:p>
            <a:pPr>
              <a:buFont typeface="Wingdings" pitchFamily="2" charset="2"/>
              <a:buChar char="v"/>
            </a:pPr>
            <a:r>
              <a:rPr lang="en-US" sz="2000" b="1" dirty="0">
                <a:solidFill>
                  <a:schemeClr val="accent2">
                    <a:lumMod val="75000"/>
                  </a:schemeClr>
                </a:solidFill>
              </a:rPr>
              <a:t>Use selected non-invasive new Language features</a:t>
            </a:r>
          </a:p>
          <a:p>
            <a:pPr>
              <a:buFont typeface="Wingdings" pitchFamily="2" charset="2"/>
              <a:buChar char="v"/>
            </a:pPr>
            <a:r>
              <a:rPr lang="en-GB" sz="2000" dirty="0"/>
              <a:t>Proactively give clear instructions for known library upgrades</a:t>
            </a:r>
          </a:p>
          <a:p>
            <a:pPr>
              <a:buFont typeface="Wingdings" pitchFamily="2" charset="2"/>
              <a:buChar char="v"/>
            </a:pPr>
            <a:r>
              <a:rPr lang="en-GB" sz="2000" dirty="0"/>
              <a:t>LLM Agnostic</a:t>
            </a:r>
          </a:p>
        </p:txBody>
      </p:sp>
      <p:sp>
        <p:nvSpPr>
          <p:cNvPr id="5" name="Title 4">
            <a:extLst>
              <a:ext uri="{FF2B5EF4-FFF2-40B4-BE49-F238E27FC236}">
                <a16:creationId xmlns:a16="http://schemas.microsoft.com/office/drawing/2014/main" id="{A221CCFA-362E-BEF1-6921-31CCAF5E098F}"/>
              </a:ext>
            </a:extLst>
          </p:cNvPr>
          <p:cNvSpPr>
            <a:spLocks noGrp="1"/>
          </p:cNvSpPr>
          <p:nvPr>
            <p:ph type="title"/>
          </p:nvPr>
        </p:nvSpPr>
        <p:spPr>
          <a:xfrm>
            <a:off x="467999" y="528034"/>
            <a:ext cx="11257200" cy="515576"/>
          </a:xfrm>
        </p:spPr>
        <p:txBody>
          <a:bodyPr>
            <a:normAutofit fontScale="90000"/>
          </a:bodyPr>
          <a:lstStyle/>
          <a:p>
            <a:r>
              <a:rPr lang="en-US" sz="3000" dirty="0"/>
              <a:t>Goals of AI Assisted Java Upgrade</a:t>
            </a:r>
            <a:endParaRPr lang="en-GB" sz="3000" dirty="0"/>
          </a:p>
        </p:txBody>
      </p:sp>
      <p:sp>
        <p:nvSpPr>
          <p:cNvPr id="4" name="TextBox 3">
            <a:extLst>
              <a:ext uri="{FF2B5EF4-FFF2-40B4-BE49-F238E27FC236}">
                <a16:creationId xmlns:a16="http://schemas.microsoft.com/office/drawing/2014/main" id="{A41BDB96-31B3-E517-F2A5-9C44BFEE9359}"/>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3DBF8FF6-8FAD-2B24-F64A-960CA8352001}"/>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012142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A4D3-F467-437F-BE24-226894D0BD8E}"/>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B943A00-6975-DE7C-1DB4-4E75992662E2}"/>
              </a:ext>
            </a:extLst>
          </p:cNvPr>
          <p:cNvSpPr>
            <a:spLocks noGrp="1"/>
          </p:cNvSpPr>
          <p:nvPr>
            <p:ph idx="1"/>
          </p:nvPr>
        </p:nvSpPr>
        <p:spPr>
          <a:xfrm>
            <a:off x="467999" y="1043611"/>
            <a:ext cx="10644501" cy="5709614"/>
          </a:xfrm>
        </p:spPr>
        <p:txBody>
          <a:bodyPr>
            <a:normAutofit lnSpcReduction="10000"/>
          </a:bodyPr>
          <a:lstStyle/>
          <a:p>
            <a:pPr>
              <a:buFont typeface="Wingdings" pitchFamily="2" charset="2"/>
              <a:buChar char="v"/>
            </a:pPr>
            <a:r>
              <a:rPr lang="en-US" sz="2000" dirty="0"/>
              <a:t>Very active community based automated refactoring framework</a:t>
            </a:r>
          </a:p>
          <a:p>
            <a:pPr>
              <a:buFont typeface="Wingdings" pitchFamily="2" charset="2"/>
              <a:buChar char="v"/>
            </a:pPr>
            <a:r>
              <a:rPr lang="en-US" sz="2000" dirty="0"/>
              <a:t>Provides recipes for code refactoring</a:t>
            </a:r>
          </a:p>
          <a:p>
            <a:pPr lvl="1">
              <a:buFont typeface="Wingdings" pitchFamily="2" charset="2"/>
              <a:buChar char="v"/>
            </a:pPr>
            <a:r>
              <a:rPr lang="en-US" sz="1800" b="1" dirty="0">
                <a:solidFill>
                  <a:schemeClr val="accent2">
                    <a:lumMod val="75000"/>
                  </a:schemeClr>
                </a:solidFill>
              </a:rPr>
              <a:t>Java 17 upgrade Recipe - org.openrewrite.java.migrate.UpgradeToJava17</a:t>
            </a:r>
          </a:p>
          <a:p>
            <a:pPr lvl="1">
              <a:buFont typeface="Wingdings" pitchFamily="2" charset="2"/>
              <a:buChar char="v"/>
            </a:pPr>
            <a:r>
              <a:rPr lang="en-US" sz="1800" dirty="0" err="1"/>
              <a:t>org.openrewrite.java.migrate.jakarta.JavaxToJakarta</a:t>
            </a:r>
            <a:endParaRPr lang="en-US" sz="1800" dirty="0"/>
          </a:p>
          <a:p>
            <a:pPr lvl="2">
              <a:buFont typeface="Wingdings" pitchFamily="2" charset="2"/>
              <a:buChar char="v"/>
            </a:pPr>
            <a:r>
              <a:rPr lang="en-US" sz="1600" dirty="0"/>
              <a:t>Change all “</a:t>
            </a:r>
            <a:r>
              <a:rPr lang="en-US" sz="1600" dirty="0" err="1"/>
              <a:t>javax</a:t>
            </a:r>
            <a:r>
              <a:rPr lang="en-US" sz="1600" dirty="0"/>
              <a:t>.*” to “</a:t>
            </a:r>
            <a:r>
              <a:rPr lang="en-US" sz="1600" dirty="0" err="1"/>
              <a:t>jakarta</a:t>
            </a:r>
            <a:r>
              <a:rPr lang="en-US" sz="1600" dirty="0"/>
              <a:t>.*”</a:t>
            </a:r>
          </a:p>
          <a:p>
            <a:pPr lvl="1">
              <a:buFont typeface="Wingdings" pitchFamily="2" charset="2"/>
              <a:buChar char="v"/>
            </a:pPr>
            <a:r>
              <a:rPr lang="en-US" sz="1800" dirty="0" err="1"/>
              <a:t>org.openrewrite.java.migrate.SwitchPatternMatching</a:t>
            </a:r>
            <a:endParaRPr lang="en-US" sz="1800" dirty="0"/>
          </a:p>
          <a:p>
            <a:pPr lvl="2">
              <a:buFont typeface="Wingdings" pitchFamily="2" charset="2"/>
              <a:buChar char="v"/>
            </a:pPr>
            <a:r>
              <a:rPr lang="en-US" sz="1600" dirty="0"/>
              <a:t>Use new pattern matching feature</a:t>
            </a:r>
          </a:p>
          <a:p>
            <a:pPr lvl="1">
              <a:buFont typeface="Wingdings" pitchFamily="2" charset="2"/>
              <a:buChar char="v"/>
            </a:pPr>
            <a:r>
              <a:rPr lang="en-US" sz="1800" dirty="0"/>
              <a:t>Use </a:t>
            </a:r>
            <a:r>
              <a:rPr lang="en-US" sz="1800" dirty="0" err="1"/>
              <a:t>UseVarForGenericsConstructors</a:t>
            </a:r>
            <a:r>
              <a:rPr lang="en-US" sz="1800" dirty="0"/>
              <a:t>, </a:t>
            </a:r>
            <a:r>
              <a:rPr lang="en-US" sz="1800" dirty="0" err="1"/>
              <a:t>LombokValueToRecord</a:t>
            </a:r>
            <a:r>
              <a:rPr lang="en-US" sz="1800" dirty="0"/>
              <a:t>, </a:t>
            </a:r>
            <a:r>
              <a:rPr lang="en-US" sz="1800" dirty="0" err="1"/>
              <a:t>ifelseifconstructtoswitch</a:t>
            </a:r>
            <a:endParaRPr lang="en-US" sz="1800" dirty="0"/>
          </a:p>
          <a:p>
            <a:pPr>
              <a:buFont typeface="Wingdings" pitchFamily="2" charset="2"/>
              <a:buChar char="v"/>
            </a:pPr>
            <a:r>
              <a:rPr lang="en-US" sz="2000" dirty="0"/>
              <a:t>Composite Recipes - bundles multiple recipes into one</a:t>
            </a:r>
          </a:p>
          <a:p>
            <a:pPr>
              <a:buFont typeface="Wingdings" pitchFamily="2" charset="2"/>
              <a:buChar char="v"/>
            </a:pPr>
            <a:r>
              <a:rPr lang="en-US" sz="2000" dirty="0"/>
              <a:t>Limited Recipes for other programming languages</a:t>
            </a:r>
          </a:p>
          <a:p>
            <a:pPr>
              <a:buFont typeface="Wingdings" pitchFamily="2" charset="2"/>
              <a:buChar char="v"/>
            </a:pPr>
            <a:r>
              <a:rPr lang="en-US" sz="2000" b="1" dirty="0">
                <a:solidFill>
                  <a:schemeClr val="accent2">
                    <a:lumMod val="75000"/>
                  </a:schemeClr>
                </a:solidFill>
              </a:rPr>
              <a:t>Custom recipes can be built</a:t>
            </a:r>
          </a:p>
          <a:p>
            <a:pPr>
              <a:buFont typeface="Wingdings" pitchFamily="2" charset="2"/>
              <a:buChar char="v"/>
            </a:pPr>
            <a:r>
              <a:rPr lang="en-US" sz="2000" dirty="0"/>
              <a:t>Used as underlying framework by AI Agents</a:t>
            </a:r>
          </a:p>
          <a:p>
            <a:pPr lvl="1">
              <a:buFont typeface="Wingdings" pitchFamily="2" charset="2"/>
              <a:buChar char="v"/>
            </a:pPr>
            <a:r>
              <a:rPr lang="en-US" sz="1800" dirty="0"/>
              <a:t>Amazon Q and Copilot App Modernization AI agents use Open Rewrite</a:t>
            </a:r>
          </a:p>
          <a:p>
            <a:pPr>
              <a:buFont typeface="Wingdings" pitchFamily="2" charset="2"/>
              <a:buChar char="v"/>
            </a:pPr>
            <a:r>
              <a:rPr lang="en-US" sz="2000" dirty="0"/>
              <a:t>Can be used for multiple other refactor use cases</a:t>
            </a:r>
          </a:p>
          <a:p>
            <a:pPr>
              <a:buFont typeface="Wingdings" pitchFamily="2" charset="2"/>
              <a:buChar char="v"/>
            </a:pPr>
            <a:endParaRPr lang="en-GB" sz="2400" dirty="0"/>
          </a:p>
        </p:txBody>
      </p:sp>
      <p:sp>
        <p:nvSpPr>
          <p:cNvPr id="5" name="Title 4">
            <a:extLst>
              <a:ext uri="{FF2B5EF4-FFF2-40B4-BE49-F238E27FC236}">
                <a16:creationId xmlns:a16="http://schemas.microsoft.com/office/drawing/2014/main" id="{A99DE3E2-E0DF-4FCA-2051-12E80FC8F474}"/>
              </a:ext>
            </a:extLst>
          </p:cNvPr>
          <p:cNvSpPr>
            <a:spLocks noGrp="1"/>
          </p:cNvSpPr>
          <p:nvPr>
            <p:ph type="title"/>
          </p:nvPr>
        </p:nvSpPr>
        <p:spPr>
          <a:xfrm>
            <a:off x="467999" y="528034"/>
            <a:ext cx="11257200" cy="515576"/>
          </a:xfrm>
        </p:spPr>
        <p:txBody>
          <a:bodyPr>
            <a:normAutofit/>
          </a:bodyPr>
          <a:lstStyle/>
          <a:p>
            <a:r>
              <a:rPr lang="en-US" sz="2400" dirty="0"/>
              <a:t>Approach 1: Open Rewrite – Refactoring Framework</a:t>
            </a:r>
            <a:endParaRPr lang="en-GB" sz="2400" dirty="0"/>
          </a:p>
        </p:txBody>
      </p:sp>
      <p:sp>
        <p:nvSpPr>
          <p:cNvPr id="4" name="TextBox 3">
            <a:extLst>
              <a:ext uri="{FF2B5EF4-FFF2-40B4-BE49-F238E27FC236}">
                <a16:creationId xmlns:a16="http://schemas.microsoft.com/office/drawing/2014/main" id="{E07FAFCD-FE29-894E-E87C-C00861C857DC}"/>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42E099B8-1126-909D-307B-D573EF38CE9B}"/>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9707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CB74-5E26-E608-608F-7921BECAD065}"/>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BDE6283-3C1E-E35C-6232-3AAC9B9470DE}"/>
              </a:ext>
            </a:extLst>
          </p:cNvPr>
          <p:cNvSpPr>
            <a:spLocks noGrp="1"/>
          </p:cNvSpPr>
          <p:nvPr>
            <p:ph idx="1"/>
          </p:nvPr>
        </p:nvSpPr>
        <p:spPr>
          <a:xfrm>
            <a:off x="467999" y="1043610"/>
            <a:ext cx="10644501" cy="5598489"/>
          </a:xfrm>
        </p:spPr>
        <p:txBody>
          <a:bodyPr>
            <a:normAutofit/>
          </a:bodyPr>
          <a:lstStyle/>
          <a:p>
            <a:pPr>
              <a:buFont typeface="Wingdings" pitchFamily="2" charset="2"/>
              <a:buChar char="v"/>
            </a:pPr>
            <a:r>
              <a:rPr lang="en-GB" dirty="0"/>
              <a:t>Gradle Plugin and Dependencies</a:t>
            </a:r>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endParaRPr lang="en-GB" dirty="0"/>
          </a:p>
          <a:p>
            <a:pPr>
              <a:buFont typeface="Wingdings" pitchFamily="2" charset="2"/>
              <a:buChar char="v"/>
            </a:pPr>
            <a:r>
              <a:rPr lang="en-GB" dirty="0"/>
              <a:t>Executing Selected Recipes – Among so many recipes </a:t>
            </a:r>
          </a:p>
          <a:p>
            <a:pPr marL="0" indent="0">
              <a:buNone/>
            </a:pPr>
            <a:endParaRPr lang="en-GB" sz="2400" dirty="0"/>
          </a:p>
          <a:p>
            <a:pPr>
              <a:buFont typeface="Wingdings" pitchFamily="2" charset="2"/>
              <a:buChar char="v"/>
            </a:pPr>
            <a:endParaRPr lang="en-GB" sz="2400" dirty="0"/>
          </a:p>
          <a:p>
            <a:pPr>
              <a:buFont typeface="Wingdings" pitchFamily="2" charset="2"/>
              <a:buChar char="v"/>
            </a:pPr>
            <a:endParaRPr lang="en-GB" sz="2400" dirty="0"/>
          </a:p>
          <a:p>
            <a:pPr>
              <a:buFont typeface="Wingdings" pitchFamily="2" charset="2"/>
              <a:buChar char="v"/>
            </a:pPr>
            <a:endParaRPr lang="en-GB" sz="2400" dirty="0"/>
          </a:p>
          <a:p>
            <a:pPr>
              <a:buFont typeface="Wingdings" pitchFamily="2" charset="2"/>
              <a:buChar char="v"/>
            </a:pPr>
            <a:endParaRPr lang="en-GB" sz="2400" dirty="0"/>
          </a:p>
        </p:txBody>
      </p:sp>
      <p:sp>
        <p:nvSpPr>
          <p:cNvPr id="5" name="Title 4">
            <a:extLst>
              <a:ext uri="{FF2B5EF4-FFF2-40B4-BE49-F238E27FC236}">
                <a16:creationId xmlns:a16="http://schemas.microsoft.com/office/drawing/2014/main" id="{0BC7B1A9-5D5F-BCD5-0E4B-1095E25997F2}"/>
              </a:ext>
            </a:extLst>
          </p:cNvPr>
          <p:cNvSpPr>
            <a:spLocks noGrp="1"/>
          </p:cNvSpPr>
          <p:nvPr>
            <p:ph type="title"/>
          </p:nvPr>
        </p:nvSpPr>
        <p:spPr>
          <a:xfrm>
            <a:off x="467999" y="528034"/>
            <a:ext cx="11257200" cy="515576"/>
          </a:xfrm>
        </p:spPr>
        <p:txBody>
          <a:bodyPr>
            <a:normAutofit fontScale="90000"/>
          </a:bodyPr>
          <a:lstStyle/>
          <a:p>
            <a:r>
              <a:rPr lang="en-US" sz="3000" dirty="0"/>
              <a:t>Open Rewrite – Usage in Gradle</a:t>
            </a:r>
            <a:endParaRPr lang="en-GB" sz="3000" dirty="0"/>
          </a:p>
        </p:txBody>
      </p:sp>
      <p:sp>
        <p:nvSpPr>
          <p:cNvPr id="4" name="TextBox 3">
            <a:extLst>
              <a:ext uri="{FF2B5EF4-FFF2-40B4-BE49-F238E27FC236}">
                <a16:creationId xmlns:a16="http://schemas.microsoft.com/office/drawing/2014/main" id="{2B99BCD2-292A-18C1-B8C2-CBECFDA493ED}"/>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TextBox 5">
            <a:extLst>
              <a:ext uri="{FF2B5EF4-FFF2-40B4-BE49-F238E27FC236}">
                <a16:creationId xmlns:a16="http://schemas.microsoft.com/office/drawing/2014/main" id="{AA2BD974-B779-A03F-CC8B-ACE183E839BE}"/>
              </a:ext>
            </a:extLst>
          </p:cNvPr>
          <p:cNvSpPr txBox="1"/>
          <p:nvPr/>
        </p:nvSpPr>
        <p:spPr>
          <a:xfrm>
            <a:off x="694461" y="1473200"/>
            <a:ext cx="8339472" cy="3539430"/>
          </a:xfrm>
          <a:prstGeom prst="rect">
            <a:avLst/>
          </a:prstGeom>
          <a:noFill/>
        </p:spPr>
        <p:txBody>
          <a:bodyPr wrap="square" rtlCol="0">
            <a:spAutoFit/>
          </a:bodyPr>
          <a:lstStyle/>
          <a:p>
            <a:r>
              <a:rPr lang="en-US" sz="1600" dirty="0">
                <a:latin typeface=""/>
              </a:rPr>
              <a:t>plugins {</a:t>
            </a:r>
          </a:p>
          <a:p>
            <a:r>
              <a:rPr lang="en-US" sz="1600" dirty="0">
                <a:latin typeface=""/>
              </a:rPr>
              <a:t>  // ... existing plugins ...</a:t>
            </a:r>
          </a:p>
          <a:p>
            <a:r>
              <a:rPr lang="en-US" sz="1600" dirty="0">
                <a:latin typeface=""/>
              </a:rPr>
              <a:t>  id("</a:t>
            </a:r>
            <a:r>
              <a:rPr lang="en-US" sz="1600" dirty="0" err="1">
                <a:latin typeface=""/>
              </a:rPr>
              <a:t>org.openrewrite.rewrite</a:t>
            </a:r>
            <a:r>
              <a:rPr lang="en-US" sz="1600" dirty="0">
                <a:latin typeface=""/>
              </a:rPr>
              <a:t>") version "7.25.0"</a:t>
            </a:r>
          </a:p>
          <a:p>
            <a:r>
              <a:rPr lang="en-US" sz="1600" dirty="0">
                <a:latin typeface=""/>
              </a:rPr>
              <a:t>}</a:t>
            </a:r>
          </a:p>
          <a:p>
            <a:endParaRPr lang="en-US" sz="1600" dirty="0">
              <a:latin typeface=""/>
            </a:endParaRPr>
          </a:p>
          <a:p>
            <a:r>
              <a:rPr lang="en-US" sz="1600" dirty="0">
                <a:latin typeface=""/>
              </a:rPr>
              <a:t>dependencies {</a:t>
            </a:r>
          </a:p>
          <a:p>
            <a:r>
              <a:rPr lang="en-US" sz="1600" dirty="0">
                <a:latin typeface=""/>
              </a:rPr>
              <a:t>    // ... existing dependencies ...</a:t>
            </a:r>
          </a:p>
          <a:p>
            <a:endParaRPr lang="en-US" sz="1600" dirty="0">
              <a:latin typeface=""/>
            </a:endParaRPr>
          </a:p>
          <a:p>
            <a:r>
              <a:rPr lang="en-US" sz="1600" dirty="0">
                <a:latin typeface=""/>
              </a:rPr>
              <a:t>    // Import the BOM to manage versions automatically</a:t>
            </a:r>
          </a:p>
          <a:p>
            <a:r>
              <a:rPr lang="en-US" sz="1600" dirty="0">
                <a:latin typeface=""/>
              </a:rPr>
              <a:t>    rewrite(platform("org.openrewrite.recipe:rewrite-recipe-bom:3.23.0"))</a:t>
            </a:r>
          </a:p>
          <a:p>
            <a:endParaRPr lang="en-US" sz="1600" dirty="0">
              <a:latin typeface=""/>
            </a:endParaRPr>
          </a:p>
          <a:p>
            <a:r>
              <a:rPr lang="en-US" sz="1600" dirty="0">
                <a:latin typeface=""/>
              </a:rPr>
              <a:t>    // Add the specific migration artifact without a version</a:t>
            </a:r>
          </a:p>
          <a:p>
            <a:r>
              <a:rPr lang="en-US" sz="1600" dirty="0">
                <a:latin typeface=""/>
              </a:rPr>
              <a:t>    rewrite("</a:t>
            </a:r>
            <a:r>
              <a:rPr lang="en-US" sz="1600" dirty="0" err="1">
                <a:latin typeface=""/>
              </a:rPr>
              <a:t>org.openrewrite.recipe:rewrite-migrate-java</a:t>
            </a:r>
            <a:r>
              <a:rPr lang="en-US" sz="1600" dirty="0">
                <a:latin typeface=""/>
              </a:rPr>
              <a:t>")</a:t>
            </a:r>
          </a:p>
          <a:p>
            <a:r>
              <a:rPr lang="en-US" sz="1600" dirty="0">
                <a:latin typeface=""/>
              </a:rPr>
              <a:t>}</a:t>
            </a:r>
          </a:p>
        </p:txBody>
      </p:sp>
      <p:sp>
        <p:nvSpPr>
          <p:cNvPr id="7" name="TextBox 6">
            <a:extLst>
              <a:ext uri="{FF2B5EF4-FFF2-40B4-BE49-F238E27FC236}">
                <a16:creationId xmlns:a16="http://schemas.microsoft.com/office/drawing/2014/main" id="{5F8DBB4C-535E-6A00-3CDF-5C0477062274}"/>
              </a:ext>
            </a:extLst>
          </p:cNvPr>
          <p:cNvSpPr txBox="1"/>
          <p:nvPr/>
        </p:nvSpPr>
        <p:spPr>
          <a:xfrm>
            <a:off x="690132" y="5498969"/>
            <a:ext cx="8593472" cy="830997"/>
          </a:xfrm>
          <a:prstGeom prst="rect">
            <a:avLst/>
          </a:prstGeom>
          <a:noFill/>
        </p:spPr>
        <p:txBody>
          <a:bodyPr wrap="square" rtlCol="0">
            <a:spAutoFit/>
          </a:bodyPr>
          <a:lstStyle/>
          <a:p>
            <a:r>
              <a:rPr lang="en-US" sz="1600" dirty="0">
                <a:latin typeface=""/>
              </a:rPr>
              <a:t>./</a:t>
            </a:r>
            <a:r>
              <a:rPr lang="en-US" sz="1600" dirty="0" err="1">
                <a:latin typeface=""/>
              </a:rPr>
              <a:t>gradlew</a:t>
            </a:r>
            <a:r>
              <a:rPr lang="en-US" sz="1600" dirty="0">
                <a:latin typeface=""/>
              </a:rPr>
              <a:t> </a:t>
            </a:r>
            <a:r>
              <a:rPr lang="en-US" sz="1600" dirty="0" err="1">
                <a:latin typeface=""/>
              </a:rPr>
              <a:t>rewriteRun</a:t>
            </a:r>
            <a:r>
              <a:rPr lang="en-US" sz="1600" dirty="0">
                <a:latin typeface=""/>
              </a:rPr>
              <a:t> \</a:t>
            </a:r>
          </a:p>
          <a:p>
            <a:r>
              <a:rPr lang="en-US" sz="1600" dirty="0">
                <a:latin typeface=""/>
              </a:rPr>
              <a:t>  -</a:t>
            </a:r>
            <a:r>
              <a:rPr lang="en-US" sz="1600" dirty="0" err="1">
                <a:latin typeface=""/>
              </a:rPr>
              <a:t>Drewrite.activeRecipes</a:t>
            </a:r>
            <a:r>
              <a:rPr lang="en-US" sz="1600" dirty="0">
                <a:latin typeface=""/>
              </a:rPr>
              <a:t>=org.openrewrite.java.migrate.UpgradeToJava21,\</a:t>
            </a:r>
          </a:p>
          <a:p>
            <a:r>
              <a:rPr lang="en-US" sz="1600" dirty="0" err="1">
                <a:latin typeface=""/>
              </a:rPr>
              <a:t>org.openrewrite.java.migrate.SwitchPatternMatching</a:t>
            </a:r>
            <a:endParaRPr lang="en-US" sz="1600" dirty="0">
              <a:latin typeface=""/>
            </a:endParaRPr>
          </a:p>
        </p:txBody>
      </p:sp>
      <p:sp>
        <p:nvSpPr>
          <p:cNvPr id="9" name="Slide Number Placeholder 8">
            <a:extLst>
              <a:ext uri="{FF2B5EF4-FFF2-40B4-BE49-F238E27FC236}">
                <a16:creationId xmlns:a16="http://schemas.microsoft.com/office/drawing/2014/main" id="{897081AB-4396-E6FA-8EA4-F2FD9ACFDD0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99488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4E435-D3F8-C2F7-5542-050E639156E6}"/>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1353803-87EE-8F04-FD04-28A3BE2C7926}"/>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org.openrewrite.java.migrate.lang.SwitchCaseReturnsToSwitchExpression</a:t>
            </a:r>
          </a:p>
          <a:p>
            <a:pPr>
              <a:buFont typeface="Wingdings" pitchFamily="2" charset="2"/>
              <a:buChar char="v"/>
            </a:pPr>
            <a:r>
              <a:rPr lang="en-US" sz="2000" b="1" dirty="0">
                <a:solidFill>
                  <a:schemeClr val="accent2">
                    <a:lumMod val="75000"/>
                  </a:schemeClr>
                </a:solidFill>
              </a:rPr>
              <a:t>Scans the application and applies changes</a:t>
            </a:r>
          </a:p>
          <a:p>
            <a:pPr>
              <a:buFont typeface="Wingdings" pitchFamily="2" charset="2"/>
              <a:buChar char="v"/>
            </a:pPr>
            <a:r>
              <a:rPr lang="en-US" dirty="0"/>
              <a:t>Before</a:t>
            </a:r>
          </a:p>
          <a:p>
            <a:pPr>
              <a:buFont typeface="Wingdings" pitchFamily="2" charset="2"/>
              <a:buChar char="v"/>
            </a:pPr>
            <a:endParaRPr lang="en-US" sz="2400" dirty="0"/>
          </a:p>
          <a:p>
            <a:pPr>
              <a:buFont typeface="Wingdings" pitchFamily="2" charset="2"/>
              <a:buChar char="v"/>
            </a:pPr>
            <a:endParaRPr lang="en-US" sz="2400" dirty="0"/>
          </a:p>
          <a:p>
            <a:pPr>
              <a:buFont typeface="Wingdings" pitchFamily="2" charset="2"/>
              <a:buChar char="v"/>
            </a:pPr>
            <a:endParaRPr lang="en-US" sz="2400" dirty="0"/>
          </a:p>
          <a:p>
            <a:pPr marL="0" indent="0">
              <a:buNone/>
            </a:pPr>
            <a:endParaRPr lang="en-US" sz="2000" dirty="0"/>
          </a:p>
          <a:p>
            <a:pPr>
              <a:buFont typeface="Wingdings" pitchFamily="2" charset="2"/>
              <a:buChar char="v"/>
            </a:pPr>
            <a:r>
              <a:rPr lang="en-US" sz="1600" dirty="0"/>
              <a:t>After</a:t>
            </a:r>
          </a:p>
          <a:p>
            <a:pPr>
              <a:buFont typeface="Wingdings" pitchFamily="2" charset="2"/>
              <a:buChar char="v"/>
            </a:pPr>
            <a:endParaRPr lang="en-GB" sz="2400" dirty="0"/>
          </a:p>
        </p:txBody>
      </p:sp>
      <p:sp>
        <p:nvSpPr>
          <p:cNvPr id="5" name="Title 4">
            <a:extLst>
              <a:ext uri="{FF2B5EF4-FFF2-40B4-BE49-F238E27FC236}">
                <a16:creationId xmlns:a16="http://schemas.microsoft.com/office/drawing/2014/main" id="{C2606F40-3173-83E4-3E76-E5E526DDBF43}"/>
              </a:ext>
            </a:extLst>
          </p:cNvPr>
          <p:cNvSpPr>
            <a:spLocks noGrp="1"/>
          </p:cNvSpPr>
          <p:nvPr>
            <p:ph type="title"/>
          </p:nvPr>
        </p:nvSpPr>
        <p:spPr>
          <a:xfrm>
            <a:off x="467999" y="528034"/>
            <a:ext cx="11257200" cy="515576"/>
          </a:xfrm>
        </p:spPr>
        <p:txBody>
          <a:bodyPr>
            <a:normAutofit fontScale="90000"/>
          </a:bodyPr>
          <a:lstStyle/>
          <a:p>
            <a:r>
              <a:rPr lang="en-US" sz="3000" dirty="0"/>
              <a:t>Open Rewrite – Example Usage</a:t>
            </a:r>
            <a:endParaRPr lang="en-GB" sz="3000" dirty="0"/>
          </a:p>
        </p:txBody>
      </p:sp>
      <p:sp>
        <p:nvSpPr>
          <p:cNvPr id="4" name="TextBox 3">
            <a:extLst>
              <a:ext uri="{FF2B5EF4-FFF2-40B4-BE49-F238E27FC236}">
                <a16:creationId xmlns:a16="http://schemas.microsoft.com/office/drawing/2014/main" id="{793CBA8A-DE21-ACCE-7BC1-1CC443FDAB10}"/>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TextBox 5">
            <a:extLst>
              <a:ext uri="{FF2B5EF4-FFF2-40B4-BE49-F238E27FC236}">
                <a16:creationId xmlns:a16="http://schemas.microsoft.com/office/drawing/2014/main" id="{60C6E74F-ADAB-06CB-DDB5-8C640BCD7760}"/>
              </a:ext>
            </a:extLst>
          </p:cNvPr>
          <p:cNvSpPr txBox="1"/>
          <p:nvPr/>
        </p:nvSpPr>
        <p:spPr>
          <a:xfrm>
            <a:off x="770661" y="4652161"/>
            <a:ext cx="8339472" cy="1754326"/>
          </a:xfrm>
          <a:prstGeom prst="rect">
            <a:avLst/>
          </a:prstGeom>
          <a:noFill/>
        </p:spPr>
        <p:txBody>
          <a:bodyPr wrap="square" rtlCol="0">
            <a:spAutoFit/>
          </a:bodyPr>
          <a:lstStyle/>
          <a:p>
            <a:r>
              <a:rPr lang="en-US" sz="1200" dirty="0">
                <a:latin typeface=""/>
              </a:rPr>
              <a:t>class Test {</a:t>
            </a:r>
          </a:p>
          <a:p>
            <a:r>
              <a:rPr lang="en-US" sz="1200" dirty="0">
                <a:latin typeface=""/>
              </a:rPr>
              <a:t>    String </a:t>
            </a:r>
            <a:r>
              <a:rPr lang="en-US" sz="1200" dirty="0" err="1">
                <a:latin typeface=""/>
              </a:rPr>
              <a:t>doFormat</a:t>
            </a:r>
            <a:r>
              <a:rPr lang="en-US" sz="1200" dirty="0">
                <a:latin typeface=""/>
              </a:rPr>
              <a:t>(String str) {</a:t>
            </a:r>
          </a:p>
          <a:p>
            <a:r>
              <a:rPr lang="en-US" sz="1200" dirty="0">
                <a:latin typeface=""/>
              </a:rPr>
              <a:t>        return switch (str) {</a:t>
            </a:r>
          </a:p>
          <a:p>
            <a:r>
              <a:rPr lang="en-US" sz="1200" dirty="0">
                <a:latin typeface=""/>
              </a:rPr>
              <a:t>            case "foo", "bar" -&gt; "</a:t>
            </a:r>
            <a:r>
              <a:rPr lang="en-US" sz="1200" dirty="0" err="1">
                <a:latin typeface=""/>
              </a:rPr>
              <a:t>FooBar</a:t>
            </a:r>
            <a:r>
              <a:rPr lang="en-US" sz="1200" dirty="0">
                <a:latin typeface=""/>
              </a:rPr>
              <a:t>";</a:t>
            </a:r>
          </a:p>
          <a:p>
            <a:r>
              <a:rPr lang="en-US" sz="1200" dirty="0">
                <a:latin typeface=""/>
              </a:rPr>
              <a:t>            case "</a:t>
            </a:r>
            <a:r>
              <a:rPr lang="en-US" sz="1200" dirty="0" err="1">
                <a:latin typeface=""/>
              </a:rPr>
              <a:t>baz</a:t>
            </a:r>
            <a:r>
              <a:rPr lang="en-US" sz="1200" dirty="0">
                <a:latin typeface=""/>
              </a:rPr>
              <a:t>" -&gt; "Baz";</a:t>
            </a:r>
          </a:p>
          <a:p>
            <a:r>
              <a:rPr lang="en-US" sz="1200" dirty="0">
                <a:latin typeface=""/>
              </a:rPr>
              <a:t>            default -&gt; "Other";</a:t>
            </a:r>
          </a:p>
          <a:p>
            <a:r>
              <a:rPr lang="en-US" sz="1200" dirty="0">
                <a:latin typeface=""/>
              </a:rPr>
              <a:t>        };</a:t>
            </a:r>
          </a:p>
          <a:p>
            <a:r>
              <a:rPr lang="en-US" sz="1200" dirty="0">
                <a:latin typeface=""/>
              </a:rPr>
              <a:t>    }</a:t>
            </a:r>
          </a:p>
          <a:p>
            <a:r>
              <a:rPr lang="en-US" sz="1200" dirty="0">
                <a:latin typeface=""/>
              </a:rPr>
              <a:t>}</a:t>
            </a:r>
          </a:p>
        </p:txBody>
      </p:sp>
      <p:sp>
        <p:nvSpPr>
          <p:cNvPr id="7" name="TextBox 6">
            <a:extLst>
              <a:ext uri="{FF2B5EF4-FFF2-40B4-BE49-F238E27FC236}">
                <a16:creationId xmlns:a16="http://schemas.microsoft.com/office/drawing/2014/main" id="{A8A93E70-511F-820B-33EF-03FB21D7755F}"/>
              </a:ext>
            </a:extLst>
          </p:cNvPr>
          <p:cNvSpPr txBox="1"/>
          <p:nvPr/>
        </p:nvSpPr>
        <p:spPr>
          <a:xfrm>
            <a:off x="1003300" y="2200275"/>
            <a:ext cx="8339472" cy="1754326"/>
          </a:xfrm>
          <a:prstGeom prst="rect">
            <a:avLst/>
          </a:prstGeom>
          <a:noFill/>
        </p:spPr>
        <p:txBody>
          <a:bodyPr wrap="square" rtlCol="0">
            <a:spAutoFit/>
          </a:bodyPr>
          <a:lstStyle/>
          <a:p>
            <a:r>
              <a:rPr lang="en-US" sz="1200" dirty="0">
                <a:latin typeface=""/>
              </a:rPr>
              <a:t>class Test {</a:t>
            </a:r>
          </a:p>
          <a:p>
            <a:r>
              <a:rPr lang="en-US" sz="1200" dirty="0">
                <a:latin typeface=""/>
              </a:rPr>
              <a:t>    String </a:t>
            </a:r>
            <a:r>
              <a:rPr lang="en-US" sz="1200" dirty="0" err="1">
                <a:latin typeface=""/>
              </a:rPr>
              <a:t>doFormat</a:t>
            </a:r>
            <a:r>
              <a:rPr lang="en-US" sz="1200" dirty="0">
                <a:latin typeface=""/>
              </a:rPr>
              <a:t>(String str) {</a:t>
            </a:r>
          </a:p>
          <a:p>
            <a:r>
              <a:rPr lang="en-US" sz="1200" dirty="0">
                <a:latin typeface=""/>
              </a:rPr>
              <a:t>        switch (str) {</a:t>
            </a:r>
          </a:p>
          <a:p>
            <a:r>
              <a:rPr lang="en-US" sz="1200" dirty="0">
                <a:latin typeface=""/>
              </a:rPr>
              <a:t>            case "foo", "bar": return "</a:t>
            </a:r>
            <a:r>
              <a:rPr lang="en-US" sz="1200" dirty="0" err="1">
                <a:latin typeface=""/>
              </a:rPr>
              <a:t>FooBar</a:t>
            </a:r>
            <a:r>
              <a:rPr lang="en-US" sz="1200" dirty="0">
                <a:latin typeface=""/>
              </a:rPr>
              <a:t>";</a:t>
            </a:r>
          </a:p>
          <a:p>
            <a:r>
              <a:rPr lang="en-US" sz="1200" dirty="0">
                <a:latin typeface=""/>
              </a:rPr>
              <a:t>            case "</a:t>
            </a:r>
            <a:r>
              <a:rPr lang="en-US" sz="1200" dirty="0" err="1">
                <a:latin typeface=""/>
              </a:rPr>
              <a:t>baz</a:t>
            </a:r>
            <a:r>
              <a:rPr lang="en-US" sz="1200" dirty="0">
                <a:latin typeface=""/>
              </a:rPr>
              <a:t>": return "Baz";</a:t>
            </a:r>
          </a:p>
          <a:p>
            <a:r>
              <a:rPr lang="en-US" sz="1200" dirty="0">
                <a:latin typeface=""/>
              </a:rPr>
              <a:t>            default: return "Other";</a:t>
            </a:r>
          </a:p>
          <a:p>
            <a:r>
              <a:rPr lang="en-US" sz="1200" dirty="0">
                <a:latin typeface=""/>
              </a:rPr>
              <a:t>        }</a:t>
            </a:r>
          </a:p>
          <a:p>
            <a:r>
              <a:rPr lang="en-US" sz="1200" dirty="0">
                <a:latin typeface=""/>
              </a:rPr>
              <a:t>    }</a:t>
            </a:r>
          </a:p>
          <a:p>
            <a:r>
              <a:rPr lang="en-US" sz="1200" dirty="0">
                <a:latin typeface=""/>
              </a:rPr>
              <a:t>}</a:t>
            </a:r>
          </a:p>
        </p:txBody>
      </p:sp>
      <p:sp>
        <p:nvSpPr>
          <p:cNvPr id="9" name="Slide Number Placeholder 8">
            <a:extLst>
              <a:ext uri="{FF2B5EF4-FFF2-40B4-BE49-F238E27FC236}">
                <a16:creationId xmlns:a16="http://schemas.microsoft.com/office/drawing/2014/main" id="{F67466BA-F64F-9925-E41A-323F07A3D931}"/>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812660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E049D-34A6-AE55-72C3-D555CE0F9930}"/>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C5069BF-E6B0-B232-CB69-95652A3A2B68}"/>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sz="2000" dirty="0"/>
              <a:t>Examples: Amazon Q Developer, Copilot App Modernization</a:t>
            </a:r>
          </a:p>
          <a:p>
            <a:pPr>
              <a:buFont typeface="Wingdings" pitchFamily="2" charset="2"/>
              <a:buChar char="v"/>
            </a:pPr>
            <a:r>
              <a:rPr lang="en-US" sz="2000" dirty="0"/>
              <a:t>Pros</a:t>
            </a:r>
          </a:p>
          <a:p>
            <a:pPr lvl="1">
              <a:buFont typeface="Wingdings" pitchFamily="2" charset="2"/>
              <a:buChar char="v"/>
            </a:pPr>
            <a:r>
              <a:rPr lang="en-US" sz="1800" dirty="0"/>
              <a:t>Upgrade Java applications</a:t>
            </a:r>
          </a:p>
          <a:p>
            <a:pPr lvl="1">
              <a:buFont typeface="Wingdings" pitchFamily="2" charset="2"/>
              <a:buChar char="v"/>
            </a:pPr>
            <a:r>
              <a:rPr lang="en-US" sz="1800" b="1" dirty="0">
                <a:solidFill>
                  <a:schemeClr val="accent2">
                    <a:lumMod val="75000"/>
                  </a:schemeClr>
                </a:solidFill>
              </a:rPr>
              <a:t>Backed by extensive upgrade data</a:t>
            </a:r>
            <a:r>
              <a:rPr lang="en-US" sz="1800" dirty="0"/>
              <a:t> — AWS tested Amazon Q on 1,000+ internal application upgrades</a:t>
            </a:r>
          </a:p>
          <a:p>
            <a:pPr>
              <a:buFont typeface="Wingdings" pitchFamily="2" charset="2"/>
              <a:buChar char="v"/>
            </a:pPr>
            <a:r>
              <a:rPr lang="en-US" sz="2000" dirty="0"/>
              <a:t>Cons</a:t>
            </a:r>
          </a:p>
          <a:p>
            <a:pPr lvl="1">
              <a:buFont typeface="Wingdings" pitchFamily="2" charset="2"/>
              <a:buChar char="v"/>
            </a:pPr>
            <a:r>
              <a:rPr lang="en-US" sz="1800" dirty="0"/>
              <a:t>Unaware of Org-specific conventions</a:t>
            </a:r>
          </a:p>
          <a:p>
            <a:pPr lvl="2">
              <a:buFont typeface="Wingdings" pitchFamily="2" charset="2"/>
              <a:buChar char="v"/>
            </a:pPr>
            <a:r>
              <a:rPr lang="en-US" sz="1600" dirty="0"/>
              <a:t>Need customization</a:t>
            </a:r>
          </a:p>
          <a:p>
            <a:pPr lvl="1">
              <a:buFont typeface="Wingdings" pitchFamily="2" charset="2"/>
              <a:buChar char="v"/>
            </a:pPr>
            <a:r>
              <a:rPr lang="en-US" sz="1800" dirty="0"/>
              <a:t>Pay license fee</a:t>
            </a:r>
          </a:p>
          <a:p>
            <a:pPr lvl="1">
              <a:buFont typeface="Wingdings" pitchFamily="2" charset="2"/>
              <a:buChar char="v"/>
            </a:pPr>
            <a:r>
              <a:rPr lang="en-US" sz="1800" dirty="0"/>
              <a:t>LLM Restrictions</a:t>
            </a:r>
          </a:p>
          <a:p>
            <a:pPr lvl="2">
              <a:buFont typeface="Wingdings" pitchFamily="2" charset="2"/>
              <a:buChar char="v"/>
            </a:pPr>
            <a:r>
              <a:rPr lang="en-US" sz="1600" dirty="0"/>
              <a:t>Amazon Q works only with certain Models</a:t>
            </a:r>
          </a:p>
          <a:p>
            <a:pPr lvl="1">
              <a:buFont typeface="Wingdings" pitchFamily="2" charset="2"/>
              <a:buChar char="v"/>
            </a:pPr>
            <a:r>
              <a:rPr lang="en-US" sz="1800" dirty="0"/>
              <a:t>Support of new Language versions is delayed</a:t>
            </a:r>
          </a:p>
          <a:p>
            <a:pPr lvl="1">
              <a:buFont typeface="Wingdings" pitchFamily="2" charset="2"/>
              <a:buChar char="v"/>
            </a:pPr>
            <a:endParaRPr lang="en-GB" sz="2200" dirty="0"/>
          </a:p>
        </p:txBody>
      </p:sp>
      <p:sp>
        <p:nvSpPr>
          <p:cNvPr id="5" name="Title 4">
            <a:extLst>
              <a:ext uri="{FF2B5EF4-FFF2-40B4-BE49-F238E27FC236}">
                <a16:creationId xmlns:a16="http://schemas.microsoft.com/office/drawing/2014/main" id="{A074813D-9D8F-E7F0-0017-60A6166D0C16}"/>
              </a:ext>
            </a:extLst>
          </p:cNvPr>
          <p:cNvSpPr>
            <a:spLocks noGrp="1"/>
          </p:cNvSpPr>
          <p:nvPr>
            <p:ph type="title"/>
          </p:nvPr>
        </p:nvSpPr>
        <p:spPr>
          <a:xfrm>
            <a:off x="467999" y="528034"/>
            <a:ext cx="11257200" cy="515576"/>
          </a:xfrm>
        </p:spPr>
        <p:txBody>
          <a:bodyPr>
            <a:normAutofit/>
          </a:bodyPr>
          <a:lstStyle/>
          <a:p>
            <a:r>
              <a:rPr lang="en-US" sz="2400" dirty="0"/>
              <a:t>Approach 2: AI Agents for Java Upgrade</a:t>
            </a:r>
            <a:endParaRPr lang="en-GB" sz="2400" dirty="0"/>
          </a:p>
        </p:txBody>
      </p:sp>
      <p:sp>
        <p:nvSpPr>
          <p:cNvPr id="4" name="TextBox 3">
            <a:extLst>
              <a:ext uri="{FF2B5EF4-FFF2-40B4-BE49-F238E27FC236}">
                <a16:creationId xmlns:a16="http://schemas.microsoft.com/office/drawing/2014/main" id="{4D547368-5CF7-FF89-D50E-004B1CCE8BEE}"/>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4CD87FE-0EB7-FCA6-3D21-18DB77F41561}"/>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169806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DDCC-7FD4-31EE-D7C1-063730953528}"/>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0839590-428A-B2B5-5D70-F9C10484C93B}"/>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sz="2000" dirty="0"/>
              <a:t>Use custom instructions file that </a:t>
            </a:r>
            <a:r>
              <a:rPr lang="en-GB" sz="2000" b="1" dirty="0">
                <a:solidFill>
                  <a:schemeClr val="accent2">
                    <a:lumMod val="75000"/>
                  </a:schemeClr>
                </a:solidFill>
              </a:rPr>
              <a:t>combines good features of multiple options</a:t>
            </a:r>
          </a:p>
          <a:p>
            <a:pPr lvl="1">
              <a:buFont typeface="Wingdings" pitchFamily="2" charset="2"/>
              <a:buChar char="v"/>
            </a:pPr>
            <a:r>
              <a:rPr lang="en-GB" sz="1800" dirty="0"/>
              <a:t>Use Open Rewrite for deterministic changes</a:t>
            </a:r>
          </a:p>
          <a:p>
            <a:pPr lvl="1">
              <a:buFont typeface="Wingdings" pitchFamily="2" charset="2"/>
              <a:buChar char="v"/>
            </a:pPr>
            <a:r>
              <a:rPr lang="en-GB" sz="1800" dirty="0"/>
              <a:t>Repositories may have </a:t>
            </a:r>
            <a:r>
              <a:rPr lang="en-GB" sz="1800" b="1" dirty="0">
                <a:solidFill>
                  <a:schemeClr val="accent2">
                    <a:lumMod val="75000"/>
                  </a:schemeClr>
                </a:solidFill>
              </a:rPr>
              <a:t>edge cases, third party libraries, not handled</a:t>
            </a:r>
            <a:r>
              <a:rPr lang="en-GB" sz="1800" dirty="0"/>
              <a:t> by Open Rewrite</a:t>
            </a:r>
          </a:p>
          <a:p>
            <a:pPr lvl="1">
              <a:buFont typeface="Wingdings" pitchFamily="2" charset="2"/>
              <a:buChar char="v"/>
            </a:pPr>
            <a:r>
              <a:rPr lang="en-GB" sz="1800" dirty="0"/>
              <a:t>Use AI that can </a:t>
            </a:r>
            <a:r>
              <a:rPr lang="en-GB" sz="1800" b="1" dirty="0">
                <a:solidFill>
                  <a:schemeClr val="accent2">
                    <a:lumMod val="75000"/>
                  </a:schemeClr>
                </a:solidFill>
              </a:rPr>
              <a:t>search the internet for solutions</a:t>
            </a:r>
            <a:r>
              <a:rPr lang="en-GB" sz="1800" dirty="0"/>
              <a:t> to issues not handled by </a:t>
            </a:r>
            <a:r>
              <a:rPr lang="en-GB" sz="1800" dirty="0" err="1"/>
              <a:t>OpenRewrite</a:t>
            </a:r>
            <a:endParaRPr lang="en-GB" sz="1800" dirty="0"/>
          </a:p>
          <a:p>
            <a:pPr>
              <a:buFont typeface="Wingdings" pitchFamily="2" charset="2"/>
              <a:buChar char="v"/>
            </a:pPr>
            <a:r>
              <a:rPr lang="en-GB" sz="2000" dirty="0"/>
              <a:t>Use build/fix loop similar to AI agents</a:t>
            </a:r>
            <a:endParaRPr lang="en-GB" sz="1800" dirty="0"/>
          </a:p>
          <a:p>
            <a:pPr>
              <a:buFont typeface="Wingdings" pitchFamily="2" charset="2"/>
              <a:buChar char="v"/>
            </a:pPr>
            <a:r>
              <a:rPr lang="en-GB" sz="2000" dirty="0"/>
              <a:t>Efficiency: Use clear instructions on </a:t>
            </a:r>
            <a:r>
              <a:rPr lang="en-GB" sz="2000" b="1" dirty="0">
                <a:solidFill>
                  <a:schemeClr val="accent2">
                    <a:lumMod val="75000"/>
                  </a:schemeClr>
                </a:solidFill>
              </a:rPr>
              <a:t>common library upgrade needs</a:t>
            </a:r>
            <a:r>
              <a:rPr lang="en-GB" sz="2000" dirty="0"/>
              <a:t> – AI solves these but takes time</a:t>
            </a:r>
          </a:p>
          <a:p>
            <a:pPr lvl="1">
              <a:buFont typeface="Wingdings" pitchFamily="2" charset="2"/>
              <a:buChar char="v"/>
            </a:pPr>
            <a:r>
              <a:rPr lang="en-GB" sz="1800" dirty="0"/>
              <a:t>Most Java applications use </a:t>
            </a:r>
            <a:r>
              <a:rPr lang="en-GB" sz="1800" b="1" dirty="0">
                <a:solidFill>
                  <a:schemeClr val="accent2">
                    <a:lumMod val="75000"/>
                  </a:schemeClr>
                </a:solidFill>
              </a:rPr>
              <a:t>Lombok, Spotless formatting</a:t>
            </a:r>
          </a:p>
          <a:p>
            <a:pPr lvl="1">
              <a:buFont typeface="Wingdings" pitchFamily="2" charset="2"/>
              <a:buChar char="v"/>
            </a:pPr>
            <a:r>
              <a:rPr lang="en-GB" sz="1800" dirty="0"/>
              <a:t>Every Java upgrade needs Lombok library upgrade – </a:t>
            </a:r>
            <a:r>
              <a:rPr lang="en-GB" sz="1800" b="1" dirty="0">
                <a:solidFill>
                  <a:schemeClr val="accent2">
                    <a:lumMod val="75000"/>
                  </a:schemeClr>
                </a:solidFill>
              </a:rPr>
              <a:t>AI can figure it out – but takes time</a:t>
            </a:r>
          </a:p>
          <a:p>
            <a:pPr lvl="1">
              <a:buFont typeface="Wingdings" pitchFamily="2" charset="2"/>
              <a:buChar char="v"/>
            </a:pPr>
            <a:r>
              <a:rPr lang="en-GB" sz="1800" b="1" dirty="0">
                <a:solidFill>
                  <a:schemeClr val="accent2">
                    <a:lumMod val="75000"/>
                  </a:schemeClr>
                </a:solidFill>
              </a:rPr>
              <a:t>Proactive instruction</a:t>
            </a:r>
            <a:r>
              <a:rPr lang="en-GB" sz="1800" dirty="0"/>
              <a:t> on how to Handle </a:t>
            </a:r>
            <a:r>
              <a:rPr lang="en-GB" sz="1800" b="1" dirty="0">
                <a:solidFill>
                  <a:schemeClr val="accent2">
                    <a:lumMod val="75000"/>
                  </a:schemeClr>
                </a:solidFill>
              </a:rPr>
              <a:t>Lombok reduces upgrade time</a:t>
            </a:r>
            <a:r>
              <a:rPr lang="en-GB" sz="1800" dirty="0"/>
              <a:t> </a:t>
            </a:r>
          </a:p>
        </p:txBody>
      </p:sp>
      <p:sp>
        <p:nvSpPr>
          <p:cNvPr id="5" name="Title 4">
            <a:extLst>
              <a:ext uri="{FF2B5EF4-FFF2-40B4-BE49-F238E27FC236}">
                <a16:creationId xmlns:a16="http://schemas.microsoft.com/office/drawing/2014/main" id="{FF664F8B-06C5-D324-1B18-6839E64BA875}"/>
              </a:ext>
            </a:extLst>
          </p:cNvPr>
          <p:cNvSpPr>
            <a:spLocks noGrp="1"/>
          </p:cNvSpPr>
          <p:nvPr>
            <p:ph type="title"/>
          </p:nvPr>
        </p:nvSpPr>
        <p:spPr>
          <a:xfrm>
            <a:off x="467999" y="528034"/>
            <a:ext cx="11257200" cy="515576"/>
          </a:xfrm>
        </p:spPr>
        <p:txBody>
          <a:bodyPr>
            <a:normAutofit/>
          </a:bodyPr>
          <a:lstStyle/>
          <a:p>
            <a:r>
              <a:rPr lang="en-US" sz="2200" dirty="0"/>
              <a:t>Hybrid Approach: Combining the best of Approach 1 and Approach 2</a:t>
            </a:r>
            <a:endParaRPr lang="en-GB" sz="2200" dirty="0"/>
          </a:p>
        </p:txBody>
      </p:sp>
      <p:sp>
        <p:nvSpPr>
          <p:cNvPr id="4" name="TextBox 3">
            <a:extLst>
              <a:ext uri="{FF2B5EF4-FFF2-40B4-BE49-F238E27FC236}">
                <a16:creationId xmlns:a16="http://schemas.microsoft.com/office/drawing/2014/main" id="{B7371D49-3608-0E36-6A3E-5348CD39B309}"/>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42888DE0-BEC8-FD33-95A8-6E335E573016}"/>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3002898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6554-1A72-DC64-25A6-7533D1DBFCF1}"/>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C5E0129-8B16-5BAF-BCE4-B2AACAD309C8}"/>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sz="2000" dirty="0"/>
              <a:t>AI Instructions in Markdown format</a:t>
            </a:r>
          </a:p>
          <a:p>
            <a:pPr>
              <a:buFont typeface="Wingdings" pitchFamily="2" charset="2"/>
              <a:buChar char="v"/>
            </a:pPr>
            <a:r>
              <a:rPr lang="en-GB" sz="2000" dirty="0"/>
              <a:t>Write all steps involved in a Markdown file</a:t>
            </a:r>
          </a:p>
          <a:p>
            <a:pPr>
              <a:buFont typeface="Wingdings" pitchFamily="2" charset="2"/>
              <a:buChar char="v"/>
            </a:pPr>
            <a:r>
              <a:rPr lang="en-GB" sz="2000" dirty="0"/>
              <a:t>Use natural language prompts iteratively to generate instruction file</a:t>
            </a:r>
          </a:p>
          <a:p>
            <a:pPr>
              <a:buFont typeface="Wingdings" pitchFamily="2" charset="2"/>
              <a:buChar char="v"/>
            </a:pPr>
            <a:r>
              <a:rPr lang="en-GB" sz="2000" dirty="0"/>
              <a:t>2,500 lines instructions</a:t>
            </a:r>
          </a:p>
          <a:p>
            <a:pPr>
              <a:buFont typeface="Wingdings" pitchFamily="2" charset="2"/>
              <a:buChar char="v"/>
            </a:pPr>
            <a:r>
              <a:rPr lang="en-GB" sz="2000" dirty="0"/>
              <a:t>Instructions of Java 17 to 21: </a:t>
            </a:r>
            <a:r>
              <a:rPr lang="en-GB" sz="2000" dirty="0">
                <a:hlinkClick r:id="rId3"/>
              </a:rPr>
              <a:t>https://github.com/sri-chalam/ai-tech-notes/blob/main/articles/ai-assisted-java-upgrade/java-17-to-21/instructions/java-17-to-21-upgrade-instructions.md</a:t>
            </a:r>
            <a:endParaRPr lang="en-GB" sz="2000" dirty="0"/>
          </a:p>
          <a:p>
            <a:pPr>
              <a:buFont typeface="Wingdings" pitchFamily="2" charset="2"/>
              <a:buChar char="v"/>
            </a:pPr>
            <a:endParaRPr lang="en-GB" sz="2000" dirty="0"/>
          </a:p>
          <a:p>
            <a:pPr>
              <a:buFont typeface="Wingdings" pitchFamily="2" charset="2"/>
              <a:buChar char="v"/>
            </a:pPr>
            <a:endParaRPr lang="en-GB" sz="2000" dirty="0"/>
          </a:p>
        </p:txBody>
      </p:sp>
      <p:sp>
        <p:nvSpPr>
          <p:cNvPr id="5" name="Title 4">
            <a:extLst>
              <a:ext uri="{FF2B5EF4-FFF2-40B4-BE49-F238E27FC236}">
                <a16:creationId xmlns:a16="http://schemas.microsoft.com/office/drawing/2014/main" id="{4201F2F0-5147-C952-F6C9-15DE12757302}"/>
              </a:ext>
            </a:extLst>
          </p:cNvPr>
          <p:cNvSpPr>
            <a:spLocks noGrp="1"/>
          </p:cNvSpPr>
          <p:nvPr>
            <p:ph type="title"/>
          </p:nvPr>
        </p:nvSpPr>
        <p:spPr>
          <a:xfrm>
            <a:off x="467999" y="528034"/>
            <a:ext cx="11257200" cy="515576"/>
          </a:xfrm>
        </p:spPr>
        <p:txBody>
          <a:bodyPr>
            <a:normAutofit fontScale="90000"/>
          </a:bodyPr>
          <a:lstStyle/>
          <a:p>
            <a:r>
              <a:rPr lang="en-US" sz="3000" dirty="0"/>
              <a:t>AI Instruction File</a:t>
            </a:r>
            <a:endParaRPr lang="en-GB" sz="3000" dirty="0"/>
          </a:p>
        </p:txBody>
      </p:sp>
      <p:sp>
        <p:nvSpPr>
          <p:cNvPr id="4" name="TextBox 3">
            <a:extLst>
              <a:ext uri="{FF2B5EF4-FFF2-40B4-BE49-F238E27FC236}">
                <a16:creationId xmlns:a16="http://schemas.microsoft.com/office/drawing/2014/main" id="{F9FD7BDF-EDF9-728F-E214-22489CA86F45}"/>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508BF1F-872F-24A7-9B34-F7C9896D7F11}"/>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41639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5CA28-54A4-7F41-30C0-A81F10125F7C}"/>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AE696441-52C9-5B6F-30D6-3932EC6392C7}"/>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Sample prompt to add instruction to handle only Gradle not Maven</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r>
              <a:rPr lang="en-US" b="1" dirty="0">
                <a:solidFill>
                  <a:schemeClr val="accent2">
                    <a:lumMod val="75000"/>
                  </a:schemeClr>
                </a:solidFill>
              </a:rPr>
              <a:t>Note:</a:t>
            </a:r>
            <a:r>
              <a:rPr lang="en-US" dirty="0">
                <a:solidFill>
                  <a:schemeClr val="accent2">
                    <a:lumMod val="75000"/>
                  </a:schemeClr>
                </a:solidFill>
              </a:rPr>
              <a:t> </a:t>
            </a:r>
            <a:r>
              <a:rPr lang="en-US" b="1" dirty="0">
                <a:solidFill>
                  <a:schemeClr val="accent2">
                    <a:lumMod val="75000"/>
                  </a:schemeClr>
                </a:solidFill>
              </a:rPr>
              <a:t>Prompts that generate the instruction file don't need formal language — just be clear and specific</a:t>
            </a:r>
            <a:endParaRPr lang="en-GB" b="1" dirty="0">
              <a:solidFill>
                <a:schemeClr val="accent2">
                  <a:lumMod val="75000"/>
                </a:schemeClr>
              </a:solidFill>
            </a:endParaRPr>
          </a:p>
          <a:p>
            <a:pPr>
              <a:buFont typeface="Wingdings" pitchFamily="2" charset="2"/>
              <a:buChar char="v"/>
            </a:pPr>
            <a:r>
              <a:rPr lang="en-GB" sz="2000" dirty="0"/>
              <a:t>Sample instructions used URL: </a:t>
            </a:r>
            <a:r>
              <a:rPr lang="en-GB" sz="2000" dirty="0">
                <a:hlinkClick r:id="rId3"/>
              </a:rPr>
              <a:t>https://github.com/sri-chalam/spring-petclinic-ai-java-upgrade/blob/main/docs/ai-tasks/instructions/instruction-building-prompts.md#iterative-prompt---gradle-wrapper-upgrade-if-required</a:t>
            </a:r>
            <a:endParaRPr lang="en-GB" sz="2000" dirty="0"/>
          </a:p>
          <a:p>
            <a:pPr>
              <a:buFont typeface="Wingdings" pitchFamily="2" charset="2"/>
              <a:buChar char="v"/>
            </a:pPr>
            <a:r>
              <a:rPr lang="en-GB" sz="2000" dirty="0"/>
              <a:t> </a:t>
            </a:r>
          </a:p>
          <a:p>
            <a:pPr>
              <a:buFont typeface="Wingdings" pitchFamily="2" charset="2"/>
              <a:buChar char="v"/>
            </a:pPr>
            <a:endParaRPr lang="en-GB" sz="2000" dirty="0"/>
          </a:p>
          <a:p>
            <a:pPr>
              <a:buFont typeface="Wingdings" pitchFamily="2" charset="2"/>
              <a:buChar char="v"/>
            </a:pPr>
            <a:endParaRPr lang="en-GB" sz="2000" dirty="0"/>
          </a:p>
        </p:txBody>
      </p:sp>
      <p:sp>
        <p:nvSpPr>
          <p:cNvPr id="5" name="Title 4">
            <a:extLst>
              <a:ext uri="{FF2B5EF4-FFF2-40B4-BE49-F238E27FC236}">
                <a16:creationId xmlns:a16="http://schemas.microsoft.com/office/drawing/2014/main" id="{1EA108B2-724D-83A2-957B-D56658149417}"/>
              </a:ext>
            </a:extLst>
          </p:cNvPr>
          <p:cNvSpPr>
            <a:spLocks noGrp="1"/>
          </p:cNvSpPr>
          <p:nvPr>
            <p:ph type="title"/>
          </p:nvPr>
        </p:nvSpPr>
        <p:spPr>
          <a:xfrm>
            <a:off x="467999" y="528034"/>
            <a:ext cx="11257200" cy="515576"/>
          </a:xfrm>
        </p:spPr>
        <p:txBody>
          <a:bodyPr>
            <a:normAutofit fontScale="90000"/>
          </a:bodyPr>
          <a:lstStyle/>
          <a:p>
            <a:r>
              <a:rPr lang="en-US" sz="3000" dirty="0"/>
              <a:t>AI Instruction – Creating Using Natural Language Prompts</a:t>
            </a:r>
            <a:endParaRPr lang="en-GB" sz="3000" dirty="0"/>
          </a:p>
        </p:txBody>
      </p:sp>
      <p:sp>
        <p:nvSpPr>
          <p:cNvPr id="4" name="TextBox 3">
            <a:extLst>
              <a:ext uri="{FF2B5EF4-FFF2-40B4-BE49-F238E27FC236}">
                <a16:creationId xmlns:a16="http://schemas.microsoft.com/office/drawing/2014/main" id="{CCF993ED-F9B6-4AB1-9883-C2712ABA4671}"/>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TextBox 5">
            <a:extLst>
              <a:ext uri="{FF2B5EF4-FFF2-40B4-BE49-F238E27FC236}">
                <a16:creationId xmlns:a16="http://schemas.microsoft.com/office/drawing/2014/main" id="{95592509-B69A-FFF8-70A5-1FAC8298DFCA}"/>
              </a:ext>
            </a:extLst>
          </p:cNvPr>
          <p:cNvSpPr txBox="1"/>
          <p:nvPr/>
        </p:nvSpPr>
        <p:spPr>
          <a:xfrm>
            <a:off x="812995" y="1449085"/>
            <a:ext cx="8339472" cy="738664"/>
          </a:xfrm>
          <a:prstGeom prst="rect">
            <a:avLst/>
          </a:prstGeom>
          <a:noFill/>
        </p:spPr>
        <p:txBody>
          <a:bodyPr wrap="square" rtlCol="0">
            <a:spAutoFit/>
          </a:bodyPr>
          <a:lstStyle/>
          <a:p>
            <a:r>
              <a:rPr lang="en-US" sz="1400" dirty="0">
                <a:latin typeface=""/>
              </a:rPr>
              <a:t>Add an instruction to indicate that upgrade only Gradle, which includes Gradle wrapper, </a:t>
            </a:r>
            <a:r>
              <a:rPr lang="en-US" sz="1400" dirty="0" err="1">
                <a:latin typeface=""/>
              </a:rPr>
              <a:t>build.gradle</a:t>
            </a:r>
            <a:r>
              <a:rPr lang="en-US" sz="1400" dirty="0">
                <a:latin typeface=""/>
              </a:rPr>
              <a:t>, </a:t>
            </a:r>
            <a:r>
              <a:rPr lang="en-US" sz="1400" dirty="0" err="1">
                <a:latin typeface=""/>
              </a:rPr>
              <a:t>gradle.properties</a:t>
            </a:r>
            <a:r>
              <a:rPr lang="en-US" sz="1400" dirty="0">
                <a:latin typeface=""/>
              </a:rPr>
              <a:t>. The goals of the instruction file is to upgrade Java. Do not upgrade maven, which includes, maven wrapper, </a:t>
            </a:r>
            <a:r>
              <a:rPr lang="en-US" sz="1400" dirty="0" err="1">
                <a:latin typeface=""/>
              </a:rPr>
              <a:t>pom.xml</a:t>
            </a:r>
            <a:r>
              <a:rPr lang="en-US" sz="1400" dirty="0">
                <a:latin typeface=""/>
              </a:rPr>
              <a:t>.</a:t>
            </a:r>
          </a:p>
        </p:txBody>
      </p:sp>
      <p:sp>
        <p:nvSpPr>
          <p:cNvPr id="7" name="Slide Number Placeholder 6">
            <a:extLst>
              <a:ext uri="{FF2B5EF4-FFF2-40B4-BE49-F238E27FC236}">
                <a16:creationId xmlns:a16="http://schemas.microsoft.com/office/drawing/2014/main" id="{66388086-8FCA-6A65-B2F4-140CB4DCEA02}"/>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324840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86B4-2C4F-CCF0-EF6E-1824461CAA56}"/>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1DB88AB-0E6A-3ED1-7AA2-1EEEFE8C321E}"/>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sz="2000" dirty="0"/>
              <a:t>Use words consistently, unambiguously</a:t>
            </a:r>
          </a:p>
          <a:p>
            <a:pPr lvl="1">
              <a:buFont typeface="Wingdings" pitchFamily="2" charset="2"/>
              <a:buChar char="v"/>
            </a:pPr>
            <a:r>
              <a:rPr lang="en-GB" sz="1800" dirty="0"/>
              <a:t>The word “abort” means stop the execution</a:t>
            </a:r>
          </a:p>
          <a:p>
            <a:pPr lvl="1">
              <a:buFont typeface="Wingdings" pitchFamily="2" charset="2"/>
              <a:buChar char="v"/>
            </a:pPr>
            <a:r>
              <a:rPr lang="en-GB" sz="1800" dirty="0"/>
              <a:t>If there is a need to skip the step, the words like “continue”, “skip” used have to be consistent. Define these words upfront</a:t>
            </a:r>
          </a:p>
          <a:p>
            <a:pPr>
              <a:buFont typeface="Wingdings" pitchFamily="2" charset="2"/>
              <a:buChar char="v"/>
            </a:pPr>
            <a:r>
              <a:rPr lang="en-US" dirty="0"/>
              <a:t>Use phrase “🚨 CRITICAL” in the instruction that should not be skipped</a:t>
            </a:r>
          </a:p>
          <a:p>
            <a:pPr>
              <a:buFont typeface="Wingdings" pitchFamily="2" charset="2"/>
              <a:buChar char="v"/>
            </a:pPr>
            <a:r>
              <a:rPr lang="en-US" dirty="0"/>
              <a:t>Similarly, use ‘IMPORTANT' for steps that are less critical but should not be overlooked</a:t>
            </a:r>
          </a:p>
          <a:p>
            <a:pPr>
              <a:buFont typeface="Wingdings" pitchFamily="2" charset="2"/>
              <a:buChar char="v"/>
            </a:pPr>
            <a:r>
              <a:rPr lang="en-US" b="1" dirty="0">
                <a:solidFill>
                  <a:schemeClr val="accent2">
                    <a:lumMod val="75000"/>
                  </a:schemeClr>
                </a:solidFill>
              </a:rPr>
              <a:t>Instructions file has mix of AI prompt and shell script</a:t>
            </a:r>
            <a:r>
              <a:rPr lang="en-US" dirty="0"/>
              <a:t> </a:t>
            </a:r>
          </a:p>
          <a:p>
            <a:pPr>
              <a:buFont typeface="Wingdings" pitchFamily="2" charset="2"/>
              <a:buChar char="v"/>
            </a:pPr>
            <a:endParaRPr lang="en-GB" sz="2000" dirty="0"/>
          </a:p>
          <a:p>
            <a:pPr>
              <a:buFont typeface="Wingdings" pitchFamily="2" charset="2"/>
              <a:buChar char="v"/>
            </a:pPr>
            <a:endParaRPr lang="en-GB" sz="2000" dirty="0"/>
          </a:p>
          <a:p>
            <a:pPr>
              <a:buFont typeface="Wingdings" pitchFamily="2" charset="2"/>
              <a:buChar char="v"/>
            </a:pPr>
            <a:endParaRPr lang="en-GB" sz="2000" dirty="0"/>
          </a:p>
        </p:txBody>
      </p:sp>
      <p:sp>
        <p:nvSpPr>
          <p:cNvPr id="5" name="Title 4">
            <a:extLst>
              <a:ext uri="{FF2B5EF4-FFF2-40B4-BE49-F238E27FC236}">
                <a16:creationId xmlns:a16="http://schemas.microsoft.com/office/drawing/2014/main" id="{EA45F441-9404-B7D7-4395-4B3B1A44502B}"/>
              </a:ext>
            </a:extLst>
          </p:cNvPr>
          <p:cNvSpPr>
            <a:spLocks noGrp="1"/>
          </p:cNvSpPr>
          <p:nvPr>
            <p:ph type="title"/>
          </p:nvPr>
        </p:nvSpPr>
        <p:spPr>
          <a:xfrm>
            <a:off x="467999" y="528034"/>
            <a:ext cx="11257200" cy="515576"/>
          </a:xfrm>
        </p:spPr>
        <p:txBody>
          <a:bodyPr>
            <a:normAutofit fontScale="90000"/>
          </a:bodyPr>
          <a:lstStyle/>
          <a:p>
            <a:r>
              <a:rPr lang="en-US" sz="3000" dirty="0"/>
              <a:t>AI Instruction – Important Points</a:t>
            </a:r>
            <a:endParaRPr lang="en-GB" sz="3000" dirty="0"/>
          </a:p>
        </p:txBody>
      </p:sp>
      <p:sp>
        <p:nvSpPr>
          <p:cNvPr id="4" name="TextBox 3">
            <a:extLst>
              <a:ext uri="{FF2B5EF4-FFF2-40B4-BE49-F238E27FC236}">
                <a16:creationId xmlns:a16="http://schemas.microsoft.com/office/drawing/2014/main" id="{358728CA-A6C3-A3F6-D9F3-E1234DF895EC}"/>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C9919B21-7EFA-C276-8EF6-A4C2399B4BCE}"/>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440864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DDBF-BCF5-7324-EDC7-0944E2AB8760}"/>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29D682E-DCE1-BE3F-1EB5-CF191A192CFE}"/>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sz="2000" dirty="0"/>
              <a:t>General Logging Instructions URL: </a:t>
            </a:r>
            <a:r>
              <a:rPr lang="en-GB" sz="2000" dirty="0">
                <a:hlinkClick r:id="rId3"/>
              </a:rPr>
              <a:t>https://github.com/sri-chalam/ai-tech-notes/blob/main/articles/ai-assisted-java-upgrade/java-17-to-21/instructions/java-17-to-21-upgrade-instructions.md#logging-requirements</a:t>
            </a:r>
            <a:endParaRPr lang="en-GB" sz="2000" dirty="0"/>
          </a:p>
          <a:p>
            <a:pPr>
              <a:buFont typeface="Wingdings" pitchFamily="2" charset="2"/>
              <a:buChar char="v"/>
            </a:pPr>
            <a:r>
              <a:rPr lang="en-GB" sz="2000" dirty="0"/>
              <a:t>As per the above example, the </a:t>
            </a:r>
            <a:r>
              <a:rPr lang="en-GB" sz="2000" b="1" dirty="0">
                <a:solidFill>
                  <a:schemeClr val="accent2">
                    <a:lumMod val="75000"/>
                  </a:schemeClr>
                </a:solidFill>
              </a:rPr>
              <a:t>logging in AI is considerably different</a:t>
            </a:r>
            <a:r>
              <a:rPr lang="en-GB" sz="2000" dirty="0"/>
              <a:t> than what we are used to in applications.</a:t>
            </a:r>
          </a:p>
          <a:p>
            <a:pPr lvl="1">
              <a:buFont typeface="Wingdings" pitchFamily="2" charset="2"/>
              <a:buChar char="v"/>
            </a:pPr>
            <a:r>
              <a:rPr lang="en-GB" sz="1800" dirty="0" err="1"/>
              <a:t>logger.info</a:t>
            </a:r>
            <a:r>
              <a:rPr lang="en-GB" sz="1800" dirty="0"/>
              <a:t>() -&gt; this one will surely appear in Splunk/Datadog logs</a:t>
            </a:r>
          </a:p>
          <a:p>
            <a:pPr>
              <a:buFont typeface="Wingdings" pitchFamily="2" charset="2"/>
              <a:buChar char="v"/>
            </a:pPr>
            <a:r>
              <a:rPr lang="en-GB" sz="2000" dirty="0"/>
              <a:t>Logging instructions at each step sample URL: </a:t>
            </a:r>
            <a:r>
              <a:rPr lang="en-GB" sz="2000" dirty="0">
                <a:hlinkClick r:id="rId4"/>
              </a:rPr>
              <a:t>https://github.com/sri-chalam/ai-tech-notes/blob/main/articles/ai-assisted-java-upgrade/java-17-to-21/instructions/java-17-to-21-upgrade-instructions.md#step-2-verify-current-java-version-prerequisite-check</a:t>
            </a:r>
            <a:endParaRPr lang="en-GB" sz="2000" dirty="0"/>
          </a:p>
          <a:p>
            <a:pPr lvl="1">
              <a:buFont typeface="Wingdings" pitchFamily="2" charset="2"/>
              <a:buChar char="v"/>
            </a:pPr>
            <a:r>
              <a:rPr lang="en-GB" sz="1800" dirty="0"/>
              <a:t>What to log at each step is mentioned here.</a:t>
            </a:r>
          </a:p>
          <a:p>
            <a:pPr>
              <a:buFont typeface="Wingdings" pitchFamily="2" charset="2"/>
              <a:buChar char="v"/>
            </a:pPr>
            <a:endParaRPr lang="en-GB" sz="2000" dirty="0"/>
          </a:p>
          <a:p>
            <a:pPr>
              <a:buFont typeface="Wingdings" pitchFamily="2" charset="2"/>
              <a:buChar char="v"/>
            </a:pPr>
            <a:endParaRPr lang="en-GB" sz="2000" dirty="0"/>
          </a:p>
        </p:txBody>
      </p:sp>
      <p:sp>
        <p:nvSpPr>
          <p:cNvPr id="5" name="Title 4">
            <a:extLst>
              <a:ext uri="{FF2B5EF4-FFF2-40B4-BE49-F238E27FC236}">
                <a16:creationId xmlns:a16="http://schemas.microsoft.com/office/drawing/2014/main" id="{1C2EB152-96A4-3949-1A65-A2AAD995E009}"/>
              </a:ext>
            </a:extLst>
          </p:cNvPr>
          <p:cNvSpPr>
            <a:spLocks noGrp="1"/>
          </p:cNvSpPr>
          <p:nvPr>
            <p:ph type="title"/>
          </p:nvPr>
        </p:nvSpPr>
        <p:spPr>
          <a:xfrm>
            <a:off x="467999" y="528034"/>
            <a:ext cx="11257200" cy="515576"/>
          </a:xfrm>
        </p:spPr>
        <p:txBody>
          <a:bodyPr>
            <a:normAutofit fontScale="90000"/>
          </a:bodyPr>
          <a:lstStyle/>
          <a:p>
            <a:r>
              <a:rPr lang="en-US" sz="3000" dirty="0"/>
              <a:t>Sample AI Instruction Snippets</a:t>
            </a:r>
            <a:endParaRPr lang="en-GB" sz="3000" dirty="0"/>
          </a:p>
        </p:txBody>
      </p:sp>
      <p:sp>
        <p:nvSpPr>
          <p:cNvPr id="4" name="TextBox 3">
            <a:extLst>
              <a:ext uri="{FF2B5EF4-FFF2-40B4-BE49-F238E27FC236}">
                <a16:creationId xmlns:a16="http://schemas.microsoft.com/office/drawing/2014/main" id="{312AD6FA-B58A-4318-740B-EAFFAFC430C5}"/>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9C6C276F-1DFD-ED5D-930C-68839776CD9C}"/>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721671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D7478-E818-36A0-DD68-971D785A6230}"/>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4B24AF2-E49F-2533-5B01-CDAD7357700A}"/>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sz="2000" dirty="0"/>
              <a:t>Gradle Kotlin DSL, Groovy DSL</a:t>
            </a:r>
          </a:p>
          <a:p>
            <a:pPr lvl="1">
              <a:buFont typeface="Wingdings" pitchFamily="2" charset="2"/>
              <a:buChar char="v"/>
            </a:pPr>
            <a:r>
              <a:rPr lang="en-GB" dirty="0"/>
              <a:t>Maven needs change in instruction file</a:t>
            </a:r>
          </a:p>
          <a:p>
            <a:pPr>
              <a:buFont typeface="Wingdings" pitchFamily="2" charset="2"/>
              <a:buChar char="v"/>
            </a:pPr>
            <a:r>
              <a:rPr lang="en-GB" dirty="0"/>
              <a:t>The AI instruction file uses the following defaults. If your team prefers alternatives, update the instructions file accordingly</a:t>
            </a:r>
          </a:p>
          <a:p>
            <a:pPr lvl="1">
              <a:buFont typeface="Wingdings" pitchFamily="2" charset="2"/>
              <a:buChar char="v"/>
            </a:pPr>
            <a:r>
              <a:rPr lang="en-GB" dirty="0"/>
              <a:t>Amazon </a:t>
            </a:r>
            <a:r>
              <a:rPr lang="en-GB" dirty="0" err="1"/>
              <a:t>Corretto</a:t>
            </a:r>
            <a:r>
              <a:rPr lang="en-GB" dirty="0"/>
              <a:t> JDK is good free JDK distribution</a:t>
            </a:r>
          </a:p>
          <a:p>
            <a:pPr lvl="2">
              <a:buFont typeface="Wingdings" pitchFamily="2" charset="2"/>
              <a:buChar char="v"/>
            </a:pPr>
            <a:r>
              <a:rPr lang="en-US" dirty="0"/>
              <a:t>Some organizations may prefer OpenJDK</a:t>
            </a:r>
            <a:endParaRPr lang="en-GB" dirty="0"/>
          </a:p>
          <a:p>
            <a:pPr lvl="1">
              <a:buFont typeface="Wingdings" pitchFamily="2" charset="2"/>
              <a:buChar char="v"/>
            </a:pPr>
            <a:r>
              <a:rPr lang="en-GB" dirty="0"/>
              <a:t>SDKMAN package manager</a:t>
            </a:r>
          </a:p>
          <a:p>
            <a:pPr>
              <a:buFont typeface="Wingdings" pitchFamily="2" charset="2"/>
              <a:buChar char="v"/>
            </a:pPr>
            <a:r>
              <a:rPr lang="en-GB" dirty="0"/>
              <a:t>If instruction file is written to include maven, the instruction file becomes a bit messy</a:t>
            </a:r>
          </a:p>
          <a:p>
            <a:pPr lvl="1">
              <a:buFont typeface="Wingdings" pitchFamily="2" charset="2"/>
              <a:buChar char="v"/>
            </a:pPr>
            <a:r>
              <a:rPr lang="en-GB" dirty="0"/>
              <a:t>Already 2,500 lines</a:t>
            </a:r>
          </a:p>
        </p:txBody>
      </p:sp>
      <p:sp>
        <p:nvSpPr>
          <p:cNvPr id="5" name="Title 4">
            <a:extLst>
              <a:ext uri="{FF2B5EF4-FFF2-40B4-BE49-F238E27FC236}">
                <a16:creationId xmlns:a16="http://schemas.microsoft.com/office/drawing/2014/main" id="{0D0DA9CA-C2AA-0C19-5311-E93C1CE33546}"/>
              </a:ext>
            </a:extLst>
          </p:cNvPr>
          <p:cNvSpPr>
            <a:spLocks noGrp="1"/>
          </p:cNvSpPr>
          <p:nvPr>
            <p:ph type="title"/>
          </p:nvPr>
        </p:nvSpPr>
        <p:spPr>
          <a:xfrm>
            <a:off x="467999" y="528034"/>
            <a:ext cx="11257200" cy="515576"/>
          </a:xfrm>
        </p:spPr>
        <p:txBody>
          <a:bodyPr>
            <a:normAutofit fontScale="90000"/>
          </a:bodyPr>
          <a:lstStyle/>
          <a:p>
            <a:r>
              <a:rPr lang="en-US" sz="3000" dirty="0"/>
              <a:t>Scope of Upgrade</a:t>
            </a:r>
            <a:endParaRPr lang="en-GB" sz="3000" dirty="0"/>
          </a:p>
        </p:txBody>
      </p:sp>
      <p:sp>
        <p:nvSpPr>
          <p:cNvPr id="4" name="TextBox 3">
            <a:extLst>
              <a:ext uri="{FF2B5EF4-FFF2-40B4-BE49-F238E27FC236}">
                <a16:creationId xmlns:a16="http://schemas.microsoft.com/office/drawing/2014/main" id="{2FB9911A-1BEA-E22A-788D-394468DDE5C1}"/>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E2FA7C5-33A3-C4F7-E9F4-1DB45FB4453F}"/>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05307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428AA-DF29-8E3E-4081-A6CCC68653F3}"/>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4C1D6BD-02AA-5E0F-B506-4F5424943716}"/>
              </a:ext>
            </a:extLst>
          </p:cNvPr>
          <p:cNvSpPr>
            <a:spLocks noGrp="1"/>
          </p:cNvSpPr>
          <p:nvPr>
            <p:ph idx="1"/>
          </p:nvPr>
        </p:nvSpPr>
        <p:spPr>
          <a:xfrm>
            <a:off x="467999" y="1043611"/>
            <a:ext cx="10644501" cy="5362876"/>
          </a:xfrm>
        </p:spPr>
        <p:txBody>
          <a:bodyPr>
            <a:normAutofit/>
          </a:bodyPr>
          <a:lstStyle/>
          <a:p>
            <a:pPr>
              <a:buFont typeface="+mj-lt"/>
              <a:buAutoNum type="arabicPeriod"/>
            </a:pPr>
            <a:r>
              <a:rPr lang="en-US" dirty="0"/>
              <a:t>Identify and Set Project Root Directory</a:t>
            </a:r>
          </a:p>
          <a:p>
            <a:pPr>
              <a:buFont typeface="+mj-lt"/>
              <a:buAutoNum type="arabicPeriod"/>
            </a:pPr>
            <a:r>
              <a:rPr lang="en-US" dirty="0"/>
              <a:t>Verify Current Java Version</a:t>
            </a:r>
          </a:p>
          <a:p>
            <a:pPr>
              <a:buFont typeface="+mj-lt"/>
              <a:buAutoNum type="arabicPeriod"/>
            </a:pPr>
            <a:r>
              <a:rPr lang="en-US" dirty="0"/>
              <a:t>SDKMAN Installation – If not present</a:t>
            </a:r>
          </a:p>
          <a:p>
            <a:pPr>
              <a:buFont typeface="+mj-lt"/>
              <a:buAutoNum type="arabicPeriod"/>
            </a:pPr>
            <a:r>
              <a:rPr lang="en-US" dirty="0"/>
              <a:t>Java 21 Installation: Installs Amazon </a:t>
            </a:r>
            <a:r>
              <a:rPr lang="en-US" dirty="0" err="1"/>
              <a:t>Corretto</a:t>
            </a:r>
            <a:r>
              <a:rPr lang="en-US" dirty="0"/>
              <a:t> JDK 21 via SDKMAN – If not present</a:t>
            </a:r>
          </a:p>
          <a:p>
            <a:pPr>
              <a:buFont typeface="+mj-lt"/>
              <a:buAutoNum type="arabicPeriod"/>
            </a:pPr>
            <a:r>
              <a:rPr lang="en-US" dirty="0"/>
              <a:t>Trusted Certificates Import</a:t>
            </a:r>
          </a:p>
          <a:p>
            <a:pPr marL="800100" lvl="1" indent="-342900">
              <a:buFont typeface="+mj-lt"/>
              <a:buAutoNum type="arabicPeriod"/>
            </a:pPr>
            <a:r>
              <a:rPr lang="en-US" dirty="0"/>
              <a:t>Import Org Specific certs from ~/trusted-certs/</a:t>
            </a:r>
          </a:p>
          <a:p>
            <a:pPr>
              <a:buFont typeface="+mj-lt"/>
              <a:buAutoNum type="arabicPeriod"/>
            </a:pPr>
            <a:r>
              <a:rPr lang="en-US" dirty="0"/>
              <a:t>Upgrade Gradle Wrapper (If Needed)</a:t>
            </a:r>
          </a:p>
          <a:p>
            <a:pPr>
              <a:buFont typeface="+mj-lt"/>
              <a:buAutoNum type="arabicPeriod"/>
            </a:pPr>
            <a:r>
              <a:rPr lang="en-US" dirty="0"/>
              <a:t>Add </a:t>
            </a:r>
            <a:r>
              <a:rPr lang="en-US" dirty="0" err="1"/>
              <a:t>OpenRewrite</a:t>
            </a:r>
            <a:r>
              <a:rPr lang="en-US" dirty="0"/>
              <a:t> plugin</a:t>
            </a:r>
          </a:p>
          <a:p>
            <a:pPr>
              <a:buFont typeface="+mj-lt"/>
              <a:buAutoNum type="arabicPeriod"/>
            </a:pPr>
            <a:r>
              <a:rPr lang="en-US" dirty="0"/>
              <a:t>Common Library Upgrades – Lombok, Spotless</a:t>
            </a:r>
          </a:p>
          <a:p>
            <a:pPr>
              <a:buFont typeface="+mj-lt"/>
              <a:buAutoNum type="arabicPeriod"/>
            </a:pPr>
            <a:r>
              <a:rPr lang="en-US" dirty="0"/>
              <a:t>Use </a:t>
            </a:r>
            <a:r>
              <a:rPr lang="en-US" dirty="0" err="1"/>
              <a:t>OpenRewrite</a:t>
            </a:r>
            <a:r>
              <a:rPr lang="en-US" dirty="0"/>
              <a:t> to Migrate Java Code</a:t>
            </a:r>
          </a:p>
          <a:p>
            <a:pPr>
              <a:buFont typeface="+mj-lt"/>
              <a:buAutoNum type="arabicPeriod"/>
            </a:pPr>
            <a:r>
              <a:rPr lang="en-US" dirty="0"/>
              <a:t>Iterative Build/Fix Loop – Upgrades Java application in a loop</a:t>
            </a:r>
          </a:p>
          <a:p>
            <a:pPr>
              <a:buFont typeface="+mj-lt"/>
              <a:buAutoNum type="arabicPeriod"/>
            </a:pPr>
            <a:r>
              <a:rPr lang="en-US" dirty="0"/>
              <a:t>CI/CD Pipeline Updates</a:t>
            </a:r>
          </a:p>
          <a:p>
            <a:pPr>
              <a:buFont typeface="+mj-lt"/>
              <a:buAutoNum type="arabicPeriod"/>
            </a:pPr>
            <a:r>
              <a:rPr lang="en-US" dirty="0"/>
              <a:t>Verify the Upgrade Success or not</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D885851E-D166-1078-EA5C-5809A11CB733}"/>
              </a:ext>
            </a:extLst>
          </p:cNvPr>
          <p:cNvSpPr>
            <a:spLocks noGrp="1"/>
          </p:cNvSpPr>
          <p:nvPr>
            <p:ph type="title"/>
          </p:nvPr>
        </p:nvSpPr>
        <p:spPr>
          <a:xfrm>
            <a:off x="467999" y="528034"/>
            <a:ext cx="11257200" cy="515576"/>
          </a:xfrm>
        </p:spPr>
        <p:txBody>
          <a:bodyPr>
            <a:normAutofit fontScale="90000"/>
          </a:bodyPr>
          <a:lstStyle/>
          <a:p>
            <a:r>
              <a:rPr lang="en-US" sz="3000" dirty="0"/>
              <a:t>Steps in AI based Java Upgrade</a:t>
            </a:r>
            <a:endParaRPr lang="en-GB" sz="3000" dirty="0"/>
          </a:p>
        </p:txBody>
      </p:sp>
      <p:sp>
        <p:nvSpPr>
          <p:cNvPr id="4" name="TextBox 3">
            <a:extLst>
              <a:ext uri="{FF2B5EF4-FFF2-40B4-BE49-F238E27FC236}">
                <a16:creationId xmlns:a16="http://schemas.microsoft.com/office/drawing/2014/main" id="{8244ED1C-C95F-301C-AB8A-DBBA4BF57437}"/>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D56B220-AD5F-3F07-61E6-F56A46E93FD9}"/>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1507397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D1517-FFCC-097B-AF42-D593A9FE26D2}"/>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A27C548-C869-0B86-E0EE-E15041F1231C}"/>
              </a:ext>
            </a:extLst>
          </p:cNvPr>
          <p:cNvSpPr>
            <a:spLocks noGrp="1"/>
          </p:cNvSpPr>
          <p:nvPr>
            <p:ph idx="1"/>
          </p:nvPr>
        </p:nvSpPr>
        <p:spPr>
          <a:xfrm>
            <a:off x="467999" y="1043611"/>
            <a:ext cx="10644501" cy="5362876"/>
          </a:xfrm>
        </p:spPr>
        <p:txBody>
          <a:bodyPr>
            <a:normAutofit/>
          </a:bodyPr>
          <a:lstStyle/>
          <a:p>
            <a:pPr>
              <a:buFont typeface="+mj-lt"/>
              <a:buAutoNum type="arabicPeriod"/>
            </a:pPr>
            <a:r>
              <a:rPr lang="en-US" b="1" dirty="0">
                <a:solidFill>
                  <a:schemeClr val="accent2">
                    <a:lumMod val="75000"/>
                  </a:schemeClr>
                </a:solidFill>
              </a:rPr>
              <a:t>build/fix loop attempts to handle new scenarios through AI analysis and Internet research</a:t>
            </a:r>
            <a:endParaRPr lang="en-US" dirty="0"/>
          </a:p>
          <a:p>
            <a:pPr>
              <a:buFont typeface="+mj-lt"/>
              <a:buAutoNum type="arabicPeriod"/>
            </a:pPr>
            <a:r>
              <a:rPr lang="en-US" dirty="0"/>
              <a:t>Executes ./</a:t>
            </a:r>
            <a:r>
              <a:rPr lang="en-US" dirty="0" err="1"/>
              <a:t>gradlew</a:t>
            </a:r>
            <a:r>
              <a:rPr lang="en-US" dirty="0"/>
              <a:t> clean build to compile code and run tests</a:t>
            </a:r>
          </a:p>
          <a:p>
            <a:pPr>
              <a:buFont typeface="+mj-lt"/>
              <a:buAutoNum type="arabicPeriod"/>
            </a:pPr>
            <a:r>
              <a:rPr lang="en-US" dirty="0"/>
              <a:t>Analyzes compilation errors and identifies root causes</a:t>
            </a:r>
          </a:p>
          <a:p>
            <a:pPr>
              <a:buFont typeface="+mj-lt"/>
              <a:buAutoNum type="arabicPeriod"/>
            </a:pPr>
            <a:r>
              <a:rPr lang="en-US" b="1" dirty="0" err="1">
                <a:solidFill>
                  <a:schemeClr val="accent2">
                    <a:lumMod val="75000"/>
                  </a:schemeClr>
                </a:solidFill>
              </a:rPr>
              <a:t>OpenRewrite</a:t>
            </a:r>
            <a:r>
              <a:rPr lang="en-US" b="1" dirty="0">
                <a:solidFill>
                  <a:schemeClr val="accent2">
                    <a:lumMod val="75000"/>
                  </a:schemeClr>
                </a:solidFill>
              </a:rPr>
              <a:t> recipes</a:t>
            </a:r>
            <a:r>
              <a:rPr lang="en-US" dirty="0"/>
              <a:t> - Searches for and applies automated recipes</a:t>
            </a:r>
          </a:p>
          <a:p>
            <a:pPr>
              <a:buFont typeface="+mj-lt"/>
              <a:buAutoNum type="arabicPeriod"/>
            </a:pPr>
            <a:r>
              <a:rPr lang="en-US" b="1" dirty="0">
                <a:solidFill>
                  <a:schemeClr val="accent2">
                    <a:lumMod val="75000"/>
                  </a:schemeClr>
                </a:solidFill>
              </a:rPr>
              <a:t>Internet search</a:t>
            </a:r>
            <a:r>
              <a:rPr lang="en-US" dirty="0"/>
              <a:t> - Researches solutions from official Java documentation, Stack Overflow, and technical resources</a:t>
            </a:r>
          </a:p>
          <a:p>
            <a:pPr>
              <a:buFont typeface="+mj-lt"/>
              <a:buAutoNum type="arabicPeriod"/>
            </a:pPr>
            <a:r>
              <a:rPr lang="en-US" dirty="0"/>
              <a:t>Apply the fix</a:t>
            </a:r>
          </a:p>
          <a:p>
            <a:pPr>
              <a:buFont typeface="+mj-lt"/>
              <a:buAutoNum type="arabicPeriod"/>
            </a:pPr>
            <a:r>
              <a:rPr lang="en-US" dirty="0"/>
              <a:t>Execute the build. If there are errors go to step 3</a:t>
            </a:r>
          </a:p>
          <a:p>
            <a:pPr>
              <a:buFont typeface="+mj-lt"/>
              <a:buAutoNum type="arabicPeriod"/>
            </a:pPr>
            <a:r>
              <a:rPr lang="en-US" dirty="0"/>
              <a:t>Exit strategy to prevent infinite loops</a:t>
            </a:r>
          </a:p>
          <a:p>
            <a:pPr lvl="1">
              <a:buFont typeface="+mj-lt"/>
              <a:buAutoNum type="arabicPeriod"/>
            </a:pPr>
            <a:r>
              <a:rPr lang="en-US" dirty="0"/>
              <a:t>If the same problem appears three times, ABORT the upgrade and ask for manual intervention </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F31DCC75-A8E7-5578-733C-DDD873886B82}"/>
              </a:ext>
            </a:extLst>
          </p:cNvPr>
          <p:cNvSpPr>
            <a:spLocks noGrp="1"/>
          </p:cNvSpPr>
          <p:nvPr>
            <p:ph type="title"/>
          </p:nvPr>
        </p:nvSpPr>
        <p:spPr>
          <a:xfrm>
            <a:off x="467999" y="528034"/>
            <a:ext cx="11257200" cy="515576"/>
          </a:xfrm>
        </p:spPr>
        <p:txBody>
          <a:bodyPr>
            <a:normAutofit fontScale="90000"/>
          </a:bodyPr>
          <a:lstStyle/>
          <a:p>
            <a:r>
              <a:rPr lang="en-US" sz="3000" dirty="0"/>
              <a:t>Build/Fix Loop</a:t>
            </a:r>
            <a:endParaRPr lang="en-GB" sz="3000" dirty="0"/>
          </a:p>
        </p:txBody>
      </p:sp>
      <p:sp>
        <p:nvSpPr>
          <p:cNvPr id="4" name="TextBox 3">
            <a:extLst>
              <a:ext uri="{FF2B5EF4-FFF2-40B4-BE49-F238E27FC236}">
                <a16:creationId xmlns:a16="http://schemas.microsoft.com/office/drawing/2014/main" id="{BF8C4C03-7D0E-B652-9A23-68D59BD914E6}"/>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0A4328E2-593A-074A-BF91-002FC39768F4}"/>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474205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5FF46-EF52-1279-E926-750A7A72C717}"/>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89CF40B-44BB-FB33-64A9-53807593E9D9}"/>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b="1" dirty="0">
                <a:solidFill>
                  <a:schemeClr val="accent2">
                    <a:lumMod val="75000"/>
                  </a:schemeClr>
                </a:solidFill>
              </a:rPr>
              <a:t>Logs are equally important in AI, similar to any good application</a:t>
            </a:r>
          </a:p>
          <a:p>
            <a:pPr>
              <a:buFont typeface="Wingdings" pitchFamily="2" charset="2"/>
              <a:buChar char="v"/>
            </a:pPr>
            <a:r>
              <a:rPr lang="en-US" dirty="0"/>
              <a:t>Unlike normal applications, log entries may not come</a:t>
            </a:r>
          </a:p>
          <a:p>
            <a:pPr lvl="1">
              <a:buFont typeface="Wingdings" pitchFamily="2" charset="2"/>
              <a:buChar char="v"/>
            </a:pPr>
            <a:r>
              <a:rPr lang="en-US" dirty="0"/>
              <a:t>Models skip the logging</a:t>
            </a:r>
          </a:p>
          <a:p>
            <a:pPr lvl="1">
              <a:buFont typeface="Wingdings" pitchFamily="2" charset="2"/>
              <a:buChar char="v"/>
            </a:pPr>
            <a:r>
              <a:rPr lang="en-US" dirty="0"/>
              <a:t>Instructions are in natural language – log the time taken to execute each step</a:t>
            </a:r>
          </a:p>
          <a:p>
            <a:pPr>
              <a:buFont typeface="Wingdings" pitchFamily="2" charset="2"/>
              <a:buChar char="v"/>
            </a:pPr>
            <a:r>
              <a:rPr lang="en-US" dirty="0"/>
              <a:t>Log decisions and reasoning in each step</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9C8FAF69-6A76-B16E-6086-909445FC4367}"/>
              </a:ext>
            </a:extLst>
          </p:cNvPr>
          <p:cNvSpPr>
            <a:spLocks noGrp="1"/>
          </p:cNvSpPr>
          <p:nvPr>
            <p:ph type="title"/>
          </p:nvPr>
        </p:nvSpPr>
        <p:spPr>
          <a:xfrm>
            <a:off x="467999" y="528034"/>
            <a:ext cx="11257200" cy="515576"/>
          </a:xfrm>
        </p:spPr>
        <p:txBody>
          <a:bodyPr>
            <a:normAutofit fontScale="90000"/>
          </a:bodyPr>
          <a:lstStyle/>
          <a:p>
            <a:r>
              <a:rPr lang="en-US" sz="3000" dirty="0"/>
              <a:t>Upgrade Logs</a:t>
            </a:r>
            <a:endParaRPr lang="en-GB" sz="3000" dirty="0"/>
          </a:p>
        </p:txBody>
      </p:sp>
      <p:sp>
        <p:nvSpPr>
          <p:cNvPr id="4" name="TextBox 3">
            <a:extLst>
              <a:ext uri="{FF2B5EF4-FFF2-40B4-BE49-F238E27FC236}">
                <a16:creationId xmlns:a16="http://schemas.microsoft.com/office/drawing/2014/main" id="{BAB5FC1A-E441-2A23-177B-7DDDE8168BC5}"/>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55907A43-92FC-7F89-E833-448C672E78CC}"/>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914864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3DE13-732F-71B3-4ED8-3D1287AB2D29}"/>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8E8C7AC-D174-F563-E707-249EA075DFDC}"/>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Copy the AI Instructions from </a:t>
            </a:r>
            <a:r>
              <a:rPr lang="en-US" dirty="0" err="1"/>
              <a:t>Github</a:t>
            </a:r>
            <a:r>
              <a:rPr lang="en-US" dirty="0"/>
              <a:t> to the to be upgraded Git repo</a:t>
            </a:r>
          </a:p>
          <a:p>
            <a:pPr lvl="1">
              <a:buFont typeface="Wingdings" pitchFamily="2" charset="2"/>
              <a:buChar char="v"/>
            </a:pPr>
            <a:r>
              <a:rPr lang="en-US" dirty="0"/>
              <a:t>URL Java 17 to 21: </a:t>
            </a:r>
            <a:r>
              <a:rPr lang="en-US" dirty="0">
                <a:hlinkClick r:id="rId3"/>
              </a:rPr>
              <a:t>https://github.com/sri-chalam/ai-tech-notes/blob/main/articles/ai-assisted-java-upgrade/java-17-to-21/instructions/java-17-to-21-upgrade-instructions.md</a:t>
            </a:r>
            <a:endParaRPr lang="en-US" dirty="0"/>
          </a:p>
          <a:p>
            <a:pPr lvl="1">
              <a:buFont typeface="Wingdings" pitchFamily="2" charset="2"/>
              <a:buChar char="v"/>
            </a:pPr>
            <a:r>
              <a:rPr lang="en-US" dirty="0"/>
              <a:t>URL Java 21 to 25: </a:t>
            </a:r>
            <a:r>
              <a:rPr lang="en-US" dirty="0">
                <a:hlinkClick r:id="rId4"/>
              </a:rPr>
              <a:t>https://github.com/sri-chalam/ai-tech-notes/blob/main/articles/ai-assisted-java-upgrade/java-21-to-25/instructions/java-21-to-25-upgrade-instructions.md</a:t>
            </a:r>
            <a:endParaRPr lang="en-US" dirty="0"/>
          </a:p>
          <a:p>
            <a:pPr lvl="1">
              <a:buFont typeface="Wingdings" pitchFamily="2" charset="2"/>
              <a:buChar char="v"/>
            </a:pPr>
            <a:r>
              <a:rPr lang="en-US" dirty="0"/>
              <a:t>Suggested directory to copy in laptop:</a:t>
            </a:r>
          </a:p>
          <a:p>
            <a:pPr lvl="2">
              <a:buFont typeface="Wingdings" pitchFamily="2" charset="2"/>
              <a:buChar char="v"/>
            </a:pPr>
            <a:r>
              <a:rPr lang="en-US" dirty="0"/>
              <a:t>&lt;Git repo root&gt;/docs/ai-tasks/instructions/</a:t>
            </a:r>
          </a:p>
          <a:p>
            <a:pPr>
              <a:buFont typeface="Wingdings" pitchFamily="2" charset="2"/>
              <a:buChar char="v"/>
            </a:pPr>
            <a:r>
              <a:rPr lang="en-US" dirty="0"/>
              <a:t>LLM prompt to kick off the upgrade</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5140A450-4D07-2036-675B-CD928BDFEEB7}"/>
              </a:ext>
            </a:extLst>
          </p:cNvPr>
          <p:cNvSpPr>
            <a:spLocks noGrp="1"/>
          </p:cNvSpPr>
          <p:nvPr>
            <p:ph type="title"/>
          </p:nvPr>
        </p:nvSpPr>
        <p:spPr>
          <a:xfrm>
            <a:off x="467999" y="528034"/>
            <a:ext cx="11257200" cy="515576"/>
          </a:xfrm>
        </p:spPr>
        <p:txBody>
          <a:bodyPr>
            <a:normAutofit fontScale="90000"/>
          </a:bodyPr>
          <a:lstStyle/>
          <a:p>
            <a:r>
              <a:rPr lang="en-US" sz="3000" dirty="0"/>
              <a:t>Execute Upgrade</a:t>
            </a:r>
            <a:endParaRPr lang="en-GB" sz="3000" dirty="0"/>
          </a:p>
        </p:txBody>
      </p:sp>
      <p:sp>
        <p:nvSpPr>
          <p:cNvPr id="4" name="TextBox 3">
            <a:extLst>
              <a:ext uri="{FF2B5EF4-FFF2-40B4-BE49-F238E27FC236}">
                <a16:creationId xmlns:a16="http://schemas.microsoft.com/office/drawing/2014/main" id="{A9FFBC68-089A-8885-3CB6-1599AB86837D}"/>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TextBox 5">
            <a:extLst>
              <a:ext uri="{FF2B5EF4-FFF2-40B4-BE49-F238E27FC236}">
                <a16:creationId xmlns:a16="http://schemas.microsoft.com/office/drawing/2014/main" id="{2DAB6BF1-F1BE-CEA1-7FD5-DEC5C7A8E828}"/>
              </a:ext>
            </a:extLst>
          </p:cNvPr>
          <p:cNvSpPr txBox="1"/>
          <p:nvPr/>
        </p:nvSpPr>
        <p:spPr>
          <a:xfrm>
            <a:off x="834065" y="3899112"/>
            <a:ext cx="8593472" cy="1077218"/>
          </a:xfrm>
          <a:prstGeom prst="rect">
            <a:avLst/>
          </a:prstGeom>
          <a:noFill/>
        </p:spPr>
        <p:txBody>
          <a:bodyPr wrap="square" rtlCol="0">
            <a:spAutoFit/>
          </a:bodyPr>
          <a:lstStyle/>
          <a:p>
            <a:r>
              <a:rPr lang="en-US" sz="1600" dirty="0">
                <a:latin typeface=""/>
              </a:rPr>
              <a:t>Upgrade the application from Java 17 to Java 21 using the instructions in docs/ai-tasks/instructions/java-17-to-21-upgrade-instructions.md.</a:t>
            </a:r>
          </a:p>
          <a:p>
            <a:r>
              <a:rPr lang="en-US" sz="1600" dirty="0">
                <a:latin typeface=""/>
              </a:rPr>
              <a:t>If you cannot access this file, stop and ask me to provide its contents.</a:t>
            </a:r>
          </a:p>
          <a:p>
            <a:r>
              <a:rPr lang="en-US" sz="1600" dirty="0">
                <a:latin typeface=""/>
              </a:rPr>
              <a:t>Do not infer or invent upgrade steps.</a:t>
            </a:r>
          </a:p>
        </p:txBody>
      </p:sp>
      <p:sp>
        <p:nvSpPr>
          <p:cNvPr id="7" name="Slide Number Placeholder 6">
            <a:extLst>
              <a:ext uri="{FF2B5EF4-FFF2-40B4-BE49-F238E27FC236}">
                <a16:creationId xmlns:a16="http://schemas.microsoft.com/office/drawing/2014/main" id="{282B625D-613B-7420-BD12-EAEACAE1A9F1}"/>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1628521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49696-4245-3322-038F-32DCCA82208D}"/>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5BC7E22-C09C-FCBD-A0ED-D673582DF12F}"/>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In AI instructions file logs are not deterministic</a:t>
            </a:r>
          </a:p>
          <a:p>
            <a:pPr lvl="1">
              <a:buFont typeface="Wingdings" pitchFamily="2" charset="2"/>
              <a:buChar char="v"/>
            </a:pPr>
            <a:r>
              <a:rPr lang="en-US" dirty="0"/>
              <a:t>Some instructions may not be followed</a:t>
            </a:r>
          </a:p>
          <a:p>
            <a:pPr lvl="1">
              <a:buFont typeface="Wingdings" pitchFamily="2" charset="2"/>
              <a:buChar char="v"/>
            </a:pPr>
            <a:r>
              <a:rPr lang="en-US" dirty="0"/>
              <a:t>In normal applications, the execution time of each step can be logged.</a:t>
            </a:r>
          </a:p>
          <a:p>
            <a:pPr lvl="1">
              <a:buFont typeface="Wingdings" pitchFamily="2" charset="2"/>
              <a:buChar char="v"/>
            </a:pPr>
            <a:r>
              <a:rPr lang="en-US" dirty="0"/>
              <a:t>In AI instruction files, </a:t>
            </a:r>
            <a:r>
              <a:rPr lang="en-US" b="1" dirty="0">
                <a:solidFill>
                  <a:schemeClr val="accent2">
                    <a:lumMod val="75000"/>
                  </a:schemeClr>
                </a:solidFill>
              </a:rPr>
              <a:t>instructions are interpreted differently or even ignored</a:t>
            </a:r>
          </a:p>
          <a:p>
            <a:pPr lvl="1">
              <a:buFont typeface="Wingdings" pitchFamily="2" charset="2"/>
              <a:buChar char="v"/>
            </a:pPr>
            <a:r>
              <a:rPr lang="en-US" dirty="0"/>
              <a:t>Even if “CRITICAL” word is added to the instruction, all fields may not be logged</a:t>
            </a:r>
          </a:p>
          <a:p>
            <a:pPr>
              <a:buFont typeface="Wingdings" pitchFamily="2" charset="2"/>
              <a:buChar char="v"/>
            </a:pPr>
            <a:r>
              <a:rPr lang="en-US" dirty="0"/>
              <a:t>Sample Upgrade Log URL Java 21 to 25: </a:t>
            </a:r>
            <a:r>
              <a:rPr lang="en-US" dirty="0">
                <a:hlinkClick r:id="rId3"/>
              </a:rPr>
              <a:t>https://github.com/sri-chalam/ai-tech-notes/blob/main/articles/ai-assisted-java-upgrade/java-21-to-25/sample-logs/java-21-to-25-upgrade-log-1.md</a:t>
            </a:r>
            <a:endParaRPr lang="en-US" dirty="0"/>
          </a:p>
          <a:p>
            <a:pPr>
              <a:buFont typeface="Wingdings" pitchFamily="2" charset="2"/>
              <a:buChar char="v"/>
            </a:pPr>
            <a:r>
              <a:rPr lang="en-US" dirty="0"/>
              <a:t>Sample Upgrade Log URL Java 17 to 21: </a:t>
            </a:r>
            <a:r>
              <a:rPr lang="en-US" dirty="0">
                <a:hlinkClick r:id="rId4"/>
              </a:rPr>
              <a:t>https://github.com/sri-chalam/ai-tech-notes/blob/main/articles/ai-assisted-java-upgrade/java-17-to-21/sample-logs/java-17-to-21-upgrade-log-1.md</a:t>
            </a:r>
            <a:endParaRPr lang="en-US" dirty="0"/>
          </a:p>
          <a:p>
            <a:pPr>
              <a:buFont typeface="Wingdings" pitchFamily="2" charset="2"/>
              <a:buChar char="v"/>
            </a:pPr>
            <a:r>
              <a:rPr lang="en-US" dirty="0"/>
              <a:t>In author’s experience, Claude Code produced more detailed logs than Copilot</a:t>
            </a:r>
          </a:p>
          <a:p>
            <a:pPr lvl="1">
              <a:buFont typeface="Wingdings" pitchFamily="2" charset="2"/>
              <a:buChar char="v"/>
            </a:pPr>
            <a:endParaRPr lang="en-GB" dirty="0"/>
          </a:p>
        </p:txBody>
      </p:sp>
      <p:sp>
        <p:nvSpPr>
          <p:cNvPr id="5" name="Title 4">
            <a:extLst>
              <a:ext uri="{FF2B5EF4-FFF2-40B4-BE49-F238E27FC236}">
                <a16:creationId xmlns:a16="http://schemas.microsoft.com/office/drawing/2014/main" id="{2B490FB5-1E38-8CD8-299E-41A879127624}"/>
              </a:ext>
            </a:extLst>
          </p:cNvPr>
          <p:cNvSpPr>
            <a:spLocks noGrp="1"/>
          </p:cNvSpPr>
          <p:nvPr>
            <p:ph type="title"/>
          </p:nvPr>
        </p:nvSpPr>
        <p:spPr>
          <a:xfrm>
            <a:off x="467999" y="528034"/>
            <a:ext cx="11257200" cy="515576"/>
          </a:xfrm>
        </p:spPr>
        <p:txBody>
          <a:bodyPr>
            <a:normAutofit fontScale="90000"/>
          </a:bodyPr>
          <a:lstStyle/>
          <a:p>
            <a:r>
              <a:rPr lang="en-US" sz="3000" dirty="0"/>
              <a:t>Review Upgrade Logs</a:t>
            </a:r>
            <a:endParaRPr lang="en-GB" sz="3000" dirty="0"/>
          </a:p>
        </p:txBody>
      </p:sp>
      <p:sp>
        <p:nvSpPr>
          <p:cNvPr id="4" name="TextBox 3">
            <a:extLst>
              <a:ext uri="{FF2B5EF4-FFF2-40B4-BE49-F238E27FC236}">
                <a16:creationId xmlns:a16="http://schemas.microsoft.com/office/drawing/2014/main" id="{644BBF0A-DC8A-B580-54A6-15DF420666E5}"/>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14AFE866-AA35-7B62-D719-6DD4E208A93C}"/>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4017118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524A5-E01D-DF58-4CC3-8F7D922F86A7}"/>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425694B-BD9C-542B-78C2-4092D6A6074C}"/>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Validate the Java upgrade</a:t>
            </a:r>
          </a:p>
          <a:p>
            <a:pPr lvl="1">
              <a:buFont typeface="Wingdings" pitchFamily="2" charset="2"/>
              <a:buChar char="v"/>
            </a:pPr>
            <a:r>
              <a:rPr lang="en-US" b="1" dirty="0">
                <a:solidFill>
                  <a:schemeClr val="accent2">
                    <a:lumMod val="75000"/>
                  </a:schemeClr>
                </a:solidFill>
              </a:rPr>
              <a:t>Execute End to End tests</a:t>
            </a:r>
            <a:r>
              <a:rPr lang="en-US" dirty="0"/>
              <a:t>, if available</a:t>
            </a:r>
          </a:p>
          <a:p>
            <a:pPr lvl="1">
              <a:buFont typeface="Wingdings" pitchFamily="2" charset="2"/>
              <a:buChar char="v"/>
            </a:pPr>
            <a:r>
              <a:rPr lang="en-US" dirty="0">
                <a:solidFill>
                  <a:schemeClr val="accent2">
                    <a:lumMod val="75000"/>
                  </a:schemeClr>
                </a:solidFill>
              </a:rPr>
              <a:t>Execute Integration tests</a:t>
            </a:r>
            <a:r>
              <a:rPr lang="en-US" dirty="0"/>
              <a:t>, if available</a:t>
            </a:r>
          </a:p>
          <a:p>
            <a:pPr lvl="1">
              <a:buFont typeface="Wingdings" pitchFamily="2" charset="2"/>
              <a:buChar char="v"/>
            </a:pPr>
            <a:r>
              <a:rPr lang="en-US" dirty="0"/>
              <a:t>Execute manual tests</a:t>
            </a:r>
          </a:p>
          <a:p>
            <a:pPr lvl="2">
              <a:buFont typeface="Wingdings" pitchFamily="2" charset="2"/>
              <a:buChar char="v"/>
            </a:pPr>
            <a:r>
              <a:rPr lang="en-US" dirty="0"/>
              <a:t>Start the application locally or in Development environment</a:t>
            </a:r>
          </a:p>
          <a:p>
            <a:pPr lvl="2">
              <a:buFont typeface="Wingdings" pitchFamily="2" charset="2"/>
              <a:buChar char="v"/>
            </a:pPr>
            <a:r>
              <a:rPr lang="en-US" dirty="0"/>
              <a:t>Test critical user journeys</a:t>
            </a:r>
          </a:p>
          <a:p>
            <a:pPr lvl="2">
              <a:buFont typeface="Wingdings" pitchFamily="2" charset="2"/>
              <a:buChar char="v"/>
            </a:pPr>
            <a:r>
              <a:rPr lang="en-US" dirty="0"/>
              <a:t>Check logging and monitoring functionality</a:t>
            </a:r>
          </a:p>
          <a:p>
            <a:pPr lvl="2">
              <a:buFont typeface="Wingdings" pitchFamily="2" charset="2"/>
              <a:buChar char="v"/>
            </a:pPr>
            <a:r>
              <a:rPr lang="en-US" dirty="0"/>
              <a:t>Verify communication to external services (AWS services or microservices)</a:t>
            </a:r>
          </a:p>
          <a:p>
            <a:pPr>
              <a:buFont typeface="Wingdings" pitchFamily="2" charset="2"/>
              <a:buChar char="v"/>
            </a:pPr>
            <a:r>
              <a:rPr lang="en-US" dirty="0"/>
              <a:t>Configure IDE settings such as IntelliJ Idea</a:t>
            </a:r>
          </a:p>
          <a:p>
            <a:pPr lvl="1">
              <a:buFont typeface="Wingdings" pitchFamily="2" charset="2"/>
              <a:buChar char="v"/>
            </a:pPr>
            <a:r>
              <a:rPr lang="en-US" dirty="0"/>
              <a:t>This was not automated by Instructions file</a:t>
            </a:r>
          </a:p>
          <a:p>
            <a:pPr>
              <a:buFont typeface="Wingdings" pitchFamily="2" charset="2"/>
              <a:buChar char="v"/>
            </a:pPr>
            <a:endParaRPr lang="en-US" dirty="0"/>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33A4BB19-3784-70D3-0110-EF76288FCB21}"/>
              </a:ext>
            </a:extLst>
          </p:cNvPr>
          <p:cNvSpPr>
            <a:spLocks noGrp="1"/>
          </p:cNvSpPr>
          <p:nvPr>
            <p:ph type="title"/>
          </p:nvPr>
        </p:nvSpPr>
        <p:spPr>
          <a:xfrm>
            <a:off x="467999" y="528034"/>
            <a:ext cx="11257200" cy="515576"/>
          </a:xfrm>
        </p:spPr>
        <p:txBody>
          <a:bodyPr>
            <a:normAutofit fontScale="90000"/>
          </a:bodyPr>
          <a:lstStyle/>
          <a:p>
            <a:r>
              <a:rPr lang="en-US" sz="3000" dirty="0"/>
              <a:t>Post Upgrade Steps</a:t>
            </a:r>
            <a:endParaRPr lang="en-GB" sz="3000" dirty="0"/>
          </a:p>
        </p:txBody>
      </p:sp>
      <p:sp>
        <p:nvSpPr>
          <p:cNvPr id="4" name="TextBox 3">
            <a:extLst>
              <a:ext uri="{FF2B5EF4-FFF2-40B4-BE49-F238E27FC236}">
                <a16:creationId xmlns:a16="http://schemas.microsoft.com/office/drawing/2014/main" id="{62A5070C-50A4-3295-C11A-A122E2FCC2AA}"/>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A2325370-8332-B995-6A4F-3FC3A2988021}"/>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1263194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DE6CC-5995-8F7B-09C6-4D6C706E3115}"/>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ACD0298-2BE7-15F8-6BD0-C326627FE058}"/>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Considerable review of generated instructions is required</a:t>
            </a:r>
          </a:p>
          <a:p>
            <a:pPr lvl="1">
              <a:buFont typeface="Wingdings" pitchFamily="2" charset="2"/>
              <a:buChar char="v"/>
            </a:pPr>
            <a:r>
              <a:rPr lang="en-US" dirty="0"/>
              <a:t>Asked Claude to write instructions to add Open Rewrite support in Gradle</a:t>
            </a:r>
          </a:p>
          <a:p>
            <a:pPr lvl="2">
              <a:buFont typeface="Wingdings" pitchFamily="2" charset="2"/>
              <a:buChar char="v"/>
            </a:pPr>
            <a:r>
              <a:rPr lang="en-US" dirty="0"/>
              <a:t>The instructions used old version. </a:t>
            </a:r>
            <a:r>
              <a:rPr lang="en-US" b="1" dirty="0">
                <a:solidFill>
                  <a:schemeClr val="accent2">
                    <a:lumMod val="75000"/>
                  </a:schemeClr>
                </a:solidFill>
              </a:rPr>
              <a:t>The plugin and dependency version were not compatible</a:t>
            </a:r>
          </a:p>
          <a:p>
            <a:pPr lvl="2">
              <a:buFont typeface="Wingdings" pitchFamily="2" charset="2"/>
              <a:buChar char="v"/>
            </a:pPr>
            <a:r>
              <a:rPr lang="en-US" b="1" dirty="0">
                <a:solidFill>
                  <a:schemeClr val="accent2">
                    <a:lumMod val="75000"/>
                  </a:schemeClr>
                </a:solidFill>
              </a:rPr>
              <a:t>Recipes were added to </a:t>
            </a:r>
            <a:r>
              <a:rPr lang="en-US" b="1" dirty="0" err="1">
                <a:solidFill>
                  <a:schemeClr val="accent2">
                    <a:lumMod val="75000"/>
                  </a:schemeClr>
                </a:solidFill>
              </a:rPr>
              <a:t>build.gradle</a:t>
            </a:r>
            <a:endParaRPr lang="en-US" b="1" dirty="0">
              <a:solidFill>
                <a:schemeClr val="accent2">
                  <a:lumMod val="75000"/>
                </a:schemeClr>
              </a:solidFill>
            </a:endParaRPr>
          </a:p>
          <a:p>
            <a:pPr lvl="3">
              <a:buFont typeface="Wingdings" pitchFamily="2" charset="2"/>
              <a:buChar char="v"/>
            </a:pPr>
            <a:r>
              <a:rPr lang="en-US" b="1" dirty="0">
                <a:solidFill>
                  <a:schemeClr val="accent2">
                    <a:lumMod val="75000"/>
                  </a:schemeClr>
                </a:solidFill>
              </a:rPr>
              <a:t>Not a best practice</a:t>
            </a:r>
          </a:p>
          <a:p>
            <a:pPr lvl="4">
              <a:buFont typeface="Wingdings" pitchFamily="2" charset="2"/>
              <a:buChar char="v"/>
            </a:pPr>
            <a:r>
              <a:rPr lang="en-US" dirty="0">
                <a:solidFill>
                  <a:schemeClr val="accent2">
                    <a:lumMod val="75000"/>
                  </a:schemeClr>
                </a:solidFill>
              </a:rPr>
              <a:t>We can leave the dependencies in </a:t>
            </a:r>
            <a:r>
              <a:rPr lang="en-US" dirty="0" err="1">
                <a:solidFill>
                  <a:schemeClr val="accent2">
                    <a:lumMod val="75000"/>
                  </a:schemeClr>
                </a:solidFill>
              </a:rPr>
              <a:t>build.gradle</a:t>
            </a:r>
            <a:r>
              <a:rPr lang="en-US" dirty="0">
                <a:solidFill>
                  <a:schemeClr val="accent2">
                    <a:lumMod val="75000"/>
                  </a:schemeClr>
                </a:solidFill>
              </a:rPr>
              <a:t>, but not recipes</a:t>
            </a:r>
          </a:p>
          <a:p>
            <a:pPr lvl="4">
              <a:buFont typeface="Wingdings" pitchFamily="2" charset="2"/>
              <a:buChar char="v"/>
            </a:pPr>
            <a:r>
              <a:rPr lang="en-US" dirty="0">
                <a:solidFill>
                  <a:schemeClr val="accent2">
                    <a:lumMod val="75000"/>
                  </a:schemeClr>
                </a:solidFill>
              </a:rPr>
              <a:t>Recipes are for one time use – e.g. </a:t>
            </a:r>
            <a:r>
              <a:rPr lang="en-US" b="1" dirty="0">
                <a:solidFill>
                  <a:schemeClr val="accent2">
                    <a:lumMod val="75000"/>
                  </a:schemeClr>
                </a:solidFill>
              </a:rPr>
              <a:t>one refactoring/upgrade is done once</a:t>
            </a:r>
          </a:p>
          <a:p>
            <a:pPr lvl="2">
              <a:buFont typeface="Wingdings" pitchFamily="2" charset="2"/>
              <a:buChar char="v"/>
            </a:pPr>
            <a:r>
              <a:rPr lang="en-US" b="1" dirty="0">
                <a:solidFill>
                  <a:schemeClr val="accent2">
                    <a:lumMod val="75000"/>
                  </a:schemeClr>
                </a:solidFill>
              </a:rPr>
              <a:t>The initial generated instruction had build/fix infinite loop problem</a:t>
            </a:r>
          </a:p>
          <a:p>
            <a:pPr lvl="3">
              <a:buFont typeface="Wingdings" pitchFamily="2" charset="2"/>
              <a:buChar char="v"/>
            </a:pPr>
            <a:r>
              <a:rPr lang="en-US" b="1" dirty="0">
                <a:solidFill>
                  <a:schemeClr val="accent2">
                    <a:lumMod val="75000"/>
                  </a:schemeClr>
                </a:solidFill>
              </a:rPr>
              <a:t>Asked AI to change instructions to abort if the same error repeats for three times</a:t>
            </a:r>
            <a:endParaRPr lang="en-US" dirty="0"/>
          </a:p>
          <a:p>
            <a:pPr>
              <a:buFont typeface="Wingdings" pitchFamily="2" charset="2"/>
              <a:buChar char="v"/>
            </a:pPr>
            <a:r>
              <a:rPr lang="en-US" dirty="0"/>
              <a:t>AI generates instructions and scripts in couple of minutes</a:t>
            </a:r>
          </a:p>
          <a:p>
            <a:pPr lvl="1">
              <a:buFont typeface="Wingdings" pitchFamily="2" charset="2"/>
              <a:buChar char="v"/>
            </a:pPr>
            <a:r>
              <a:rPr lang="en-US" dirty="0"/>
              <a:t>Some scripts have outdated/old/deprecated code</a:t>
            </a:r>
          </a:p>
          <a:p>
            <a:pPr lvl="2">
              <a:buFont typeface="Wingdings" pitchFamily="2" charset="2"/>
              <a:buChar char="v"/>
            </a:pPr>
            <a:r>
              <a:rPr lang="en-US" dirty="0"/>
              <a:t>Test every script generated</a:t>
            </a:r>
          </a:p>
          <a:p>
            <a:pPr>
              <a:buFont typeface="Wingdings" pitchFamily="2" charset="2"/>
              <a:buChar char="v"/>
            </a:pPr>
            <a:r>
              <a:rPr lang="en-US" dirty="0"/>
              <a:t>Review thoroughly each line of generated instruction/script</a:t>
            </a:r>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6A5CDCC0-21CA-869B-15DD-B73417EE80D4}"/>
              </a:ext>
            </a:extLst>
          </p:cNvPr>
          <p:cNvSpPr>
            <a:spLocks noGrp="1"/>
          </p:cNvSpPr>
          <p:nvPr>
            <p:ph type="title"/>
          </p:nvPr>
        </p:nvSpPr>
        <p:spPr>
          <a:xfrm>
            <a:off x="467999" y="528034"/>
            <a:ext cx="11257200" cy="515576"/>
          </a:xfrm>
        </p:spPr>
        <p:txBody>
          <a:bodyPr>
            <a:normAutofit fontScale="90000"/>
          </a:bodyPr>
          <a:lstStyle/>
          <a:p>
            <a:r>
              <a:rPr lang="en-US" sz="3000" dirty="0"/>
              <a:t>Lessons Learned –Thorough Verification</a:t>
            </a:r>
            <a:endParaRPr lang="en-GB" sz="3000" dirty="0"/>
          </a:p>
        </p:txBody>
      </p:sp>
      <p:sp>
        <p:nvSpPr>
          <p:cNvPr id="4" name="TextBox 3">
            <a:extLst>
              <a:ext uri="{FF2B5EF4-FFF2-40B4-BE49-F238E27FC236}">
                <a16:creationId xmlns:a16="http://schemas.microsoft.com/office/drawing/2014/main" id="{91D0C988-7B51-187A-391A-FE97BEC51E15}"/>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898242BD-FE4B-7EAF-7991-B1D1D33E7915}"/>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2297789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48F42-28C9-4501-44B2-B77C6CEB68F4}"/>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4A364F1-E58A-FDE7-A9D0-490D38F61F16}"/>
              </a:ext>
            </a:extLst>
          </p:cNvPr>
          <p:cNvSpPr>
            <a:spLocks noGrp="1"/>
          </p:cNvSpPr>
          <p:nvPr>
            <p:ph idx="1"/>
          </p:nvPr>
        </p:nvSpPr>
        <p:spPr>
          <a:xfrm>
            <a:off x="467999" y="1043610"/>
            <a:ext cx="10644501" cy="5814389"/>
          </a:xfrm>
        </p:spPr>
        <p:txBody>
          <a:bodyPr>
            <a:normAutofit/>
          </a:bodyPr>
          <a:lstStyle/>
          <a:p>
            <a:pPr>
              <a:buFont typeface="Wingdings" pitchFamily="2" charset="2"/>
              <a:buChar char="v"/>
            </a:pPr>
            <a:r>
              <a:rPr lang="en-US" dirty="0"/>
              <a:t>Use same shell script for all scripts in the instructions file</a:t>
            </a:r>
          </a:p>
          <a:p>
            <a:pPr lvl="1">
              <a:buFont typeface="Wingdings" pitchFamily="2" charset="2"/>
              <a:buChar char="v"/>
            </a:pPr>
            <a:r>
              <a:rPr lang="en-US" dirty="0"/>
              <a:t>Bash is commonly used</a:t>
            </a:r>
          </a:p>
          <a:p>
            <a:pPr lvl="1">
              <a:buFont typeface="Wingdings" pitchFamily="2" charset="2"/>
              <a:buChar char="v"/>
            </a:pPr>
            <a:r>
              <a:rPr lang="en-US" dirty="0"/>
              <a:t>Mixing bash and </a:t>
            </a:r>
            <a:r>
              <a:rPr lang="en-US" dirty="0" err="1"/>
              <a:t>zsh</a:t>
            </a:r>
            <a:r>
              <a:rPr lang="en-US" dirty="0"/>
              <a:t> caused the AI to hang</a:t>
            </a:r>
          </a:p>
          <a:p>
            <a:pPr>
              <a:buFont typeface="Wingdings" pitchFamily="2" charset="2"/>
              <a:buChar char="v"/>
            </a:pPr>
            <a:r>
              <a:rPr lang="en-US" dirty="0"/>
              <a:t>Some instructions are skipped</a:t>
            </a:r>
          </a:p>
          <a:p>
            <a:pPr lvl="1">
              <a:buFont typeface="Wingdings" pitchFamily="2" charset="2"/>
              <a:buChar char="v"/>
            </a:pPr>
            <a:r>
              <a:rPr lang="en-US" dirty="0"/>
              <a:t>Cert import was skipped first time</a:t>
            </a:r>
          </a:p>
          <a:p>
            <a:pPr lvl="1">
              <a:buFont typeface="Wingdings" pitchFamily="2" charset="2"/>
              <a:buChar char="v"/>
            </a:pPr>
            <a:r>
              <a:rPr lang="en-US" dirty="0"/>
              <a:t>Added a “CRITICAL” keyword, so that important steps are not missed </a:t>
            </a:r>
          </a:p>
          <a:p>
            <a:pPr>
              <a:buFont typeface="Wingdings" pitchFamily="2" charset="2"/>
              <a:buChar char="v"/>
            </a:pPr>
            <a:r>
              <a:rPr lang="en-US" dirty="0"/>
              <a:t>Build/Fix Loop instructions had to go through multiple iterations</a:t>
            </a:r>
          </a:p>
          <a:p>
            <a:pPr>
              <a:buFont typeface="Wingdings" pitchFamily="2" charset="2"/>
              <a:buChar char="v"/>
            </a:pPr>
            <a:r>
              <a:rPr lang="en-US" b="1" dirty="0">
                <a:solidFill>
                  <a:schemeClr val="accent2">
                    <a:lumMod val="75000"/>
                  </a:schemeClr>
                </a:solidFill>
              </a:rPr>
              <a:t>Upgrade Spotless Gradle Plugin Version, Not Formatting Styles</a:t>
            </a:r>
          </a:p>
          <a:p>
            <a:pPr lvl="1">
              <a:buFont typeface="Wingdings" pitchFamily="2" charset="2"/>
              <a:buChar char="v"/>
            </a:pPr>
            <a:r>
              <a:rPr lang="en-US" b="1" dirty="0">
                <a:solidFill>
                  <a:schemeClr val="accent2">
                    <a:lumMod val="75000"/>
                  </a:schemeClr>
                </a:solidFill>
              </a:rPr>
              <a:t>When AI encountered code formatting problem, it decided to change the format style</a:t>
            </a:r>
          </a:p>
          <a:p>
            <a:pPr lvl="2">
              <a:buFont typeface="Wingdings" pitchFamily="2" charset="2"/>
              <a:buChar char="v"/>
            </a:pPr>
            <a:r>
              <a:rPr lang="en-US" dirty="0">
                <a:solidFill>
                  <a:schemeClr val="accent2">
                    <a:lumMod val="75000"/>
                  </a:schemeClr>
                </a:solidFill>
              </a:rPr>
              <a:t>It is one solution – Changed the formatting of many files</a:t>
            </a:r>
          </a:p>
          <a:p>
            <a:pPr lvl="2">
              <a:buFont typeface="Wingdings" pitchFamily="2" charset="2"/>
              <a:buChar char="v"/>
            </a:pPr>
            <a:r>
              <a:rPr lang="en-US" dirty="0">
                <a:solidFill>
                  <a:schemeClr val="accent2">
                    <a:lumMod val="75000"/>
                  </a:schemeClr>
                </a:solidFill>
              </a:rPr>
              <a:t>Better solution is to Upgrade Spotless plugin</a:t>
            </a:r>
          </a:p>
          <a:p>
            <a:pPr lvl="2">
              <a:buFont typeface="Wingdings" pitchFamily="2" charset="2"/>
              <a:buChar char="v"/>
            </a:pPr>
            <a:r>
              <a:rPr lang="en-US" dirty="0">
                <a:solidFill>
                  <a:schemeClr val="accent2">
                    <a:lumMod val="75000"/>
                  </a:schemeClr>
                </a:solidFill>
              </a:rPr>
              <a:t>Changed instruction to handle this scenario pro-actively</a:t>
            </a:r>
          </a:p>
          <a:p>
            <a:pPr>
              <a:buFont typeface="Wingdings" pitchFamily="2" charset="2"/>
              <a:buChar char="v"/>
            </a:pPr>
            <a:r>
              <a:rPr lang="en-US" dirty="0"/>
              <a:t>All software engineering practices are still valid</a:t>
            </a:r>
          </a:p>
          <a:p>
            <a:pPr lvl="1">
              <a:buFont typeface="Wingdings" pitchFamily="2" charset="2"/>
              <a:buChar char="v"/>
            </a:pPr>
            <a:r>
              <a:rPr lang="en-US" dirty="0"/>
              <a:t>Thorough testing</a:t>
            </a:r>
          </a:p>
          <a:p>
            <a:pPr lvl="1">
              <a:buFont typeface="Wingdings" pitchFamily="2" charset="2"/>
              <a:buChar char="v"/>
            </a:pPr>
            <a:r>
              <a:rPr lang="en-US" dirty="0"/>
              <a:t>Observability</a:t>
            </a:r>
          </a:p>
          <a:p>
            <a:pPr lvl="1">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AFC7499D-2C1F-8A9E-747F-EE0DBCDC957A}"/>
              </a:ext>
            </a:extLst>
          </p:cNvPr>
          <p:cNvSpPr>
            <a:spLocks noGrp="1"/>
          </p:cNvSpPr>
          <p:nvPr>
            <p:ph type="title"/>
          </p:nvPr>
        </p:nvSpPr>
        <p:spPr>
          <a:xfrm>
            <a:off x="467999" y="528034"/>
            <a:ext cx="11257200" cy="515576"/>
          </a:xfrm>
        </p:spPr>
        <p:txBody>
          <a:bodyPr>
            <a:normAutofit fontScale="90000"/>
          </a:bodyPr>
          <a:lstStyle/>
          <a:p>
            <a:r>
              <a:rPr lang="en-US" sz="3000" dirty="0"/>
              <a:t>Lessons Learned – Shell –Key Words - Guidance</a:t>
            </a:r>
            <a:endParaRPr lang="en-GB" sz="3000" dirty="0"/>
          </a:p>
        </p:txBody>
      </p:sp>
      <p:sp>
        <p:nvSpPr>
          <p:cNvPr id="4" name="TextBox 3">
            <a:extLst>
              <a:ext uri="{FF2B5EF4-FFF2-40B4-BE49-F238E27FC236}">
                <a16:creationId xmlns:a16="http://schemas.microsoft.com/office/drawing/2014/main" id="{C5F81FB4-83F4-0418-6BE5-E7AF6EB2F0EC}"/>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8E7ABDCF-A528-0E45-FD14-C503467F4980}"/>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440196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C2074-7C31-3AAB-A725-ECB7A930ACC4}"/>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08D038B2-363A-9579-020C-229ABD138AAE}"/>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US" dirty="0"/>
              <a:t>AI instructions may not work well, if there are too many if else statements - If Maven requires a dozen steps and Gradle requires a dozen steps</a:t>
            </a:r>
          </a:p>
          <a:p>
            <a:pPr lvl="1">
              <a:buFont typeface="Wingdings" pitchFamily="2" charset="2"/>
              <a:buChar char="v"/>
            </a:pPr>
            <a:r>
              <a:rPr lang="en-US" dirty="0"/>
              <a:t>Parameterizing them</a:t>
            </a:r>
          </a:p>
          <a:p>
            <a:pPr lvl="1">
              <a:buFont typeface="Wingdings" pitchFamily="2" charset="2"/>
              <a:buChar char="v"/>
            </a:pPr>
            <a:r>
              <a:rPr lang="en-US" dirty="0"/>
              <a:t>Within Gradle, there may be instructions with Kotlin vs Groovy</a:t>
            </a:r>
          </a:p>
          <a:p>
            <a:pPr lvl="1">
              <a:buFont typeface="Wingdings" pitchFamily="2" charset="2"/>
              <a:buChar char="v"/>
            </a:pPr>
            <a:r>
              <a:rPr lang="en-US" dirty="0"/>
              <a:t>Gradle where to add new dependencies?</a:t>
            </a:r>
          </a:p>
          <a:p>
            <a:pPr lvl="2">
              <a:buFont typeface="Wingdings" pitchFamily="2" charset="2"/>
              <a:buChar char="v"/>
            </a:pPr>
            <a:r>
              <a:rPr lang="en-US" dirty="0"/>
              <a:t>May not be in parent </a:t>
            </a:r>
            <a:r>
              <a:rPr lang="en-US" dirty="0" err="1"/>
              <a:t>build.gradle</a:t>
            </a:r>
            <a:r>
              <a:rPr lang="en-US" dirty="0"/>
              <a:t>. It depends. We need to follow current project’s conventions</a:t>
            </a:r>
          </a:p>
          <a:p>
            <a:pPr>
              <a:buFont typeface="Wingdings" pitchFamily="2" charset="2"/>
              <a:buChar char="v"/>
            </a:pPr>
            <a:r>
              <a:rPr lang="en-US" dirty="0"/>
              <a:t>Use consistent terminology in instructions</a:t>
            </a:r>
          </a:p>
          <a:p>
            <a:pPr lvl="1">
              <a:buFont typeface="Wingdings" pitchFamily="2" charset="2"/>
              <a:buChar char="v"/>
            </a:pPr>
            <a:r>
              <a:rPr lang="en-US" dirty="0"/>
              <a:t>Meaning of “Abort”, “Skip”</a:t>
            </a:r>
          </a:p>
          <a:p>
            <a:pPr>
              <a:buFont typeface="Wingdings" pitchFamily="2" charset="2"/>
              <a:buChar char="v"/>
            </a:pPr>
            <a:endParaRPr lang="en-US" dirty="0"/>
          </a:p>
          <a:p>
            <a:pPr>
              <a:buFont typeface="Wingdings" pitchFamily="2" charset="2"/>
              <a:buChar char="v"/>
            </a:pPr>
            <a:endParaRPr lang="en-GB" sz="1800" dirty="0"/>
          </a:p>
        </p:txBody>
      </p:sp>
      <p:sp>
        <p:nvSpPr>
          <p:cNvPr id="5" name="Title 4">
            <a:extLst>
              <a:ext uri="{FF2B5EF4-FFF2-40B4-BE49-F238E27FC236}">
                <a16:creationId xmlns:a16="http://schemas.microsoft.com/office/drawing/2014/main" id="{AA06D66D-ED17-B7D1-F9E2-396D111B7178}"/>
              </a:ext>
            </a:extLst>
          </p:cNvPr>
          <p:cNvSpPr>
            <a:spLocks noGrp="1"/>
          </p:cNvSpPr>
          <p:nvPr>
            <p:ph type="title"/>
          </p:nvPr>
        </p:nvSpPr>
        <p:spPr>
          <a:xfrm>
            <a:off x="467999" y="528034"/>
            <a:ext cx="11257200" cy="515576"/>
          </a:xfrm>
        </p:spPr>
        <p:txBody>
          <a:bodyPr>
            <a:normAutofit fontScale="90000"/>
          </a:bodyPr>
          <a:lstStyle/>
          <a:p>
            <a:r>
              <a:rPr lang="en-US" sz="3000" dirty="0"/>
              <a:t>Lessons Learned – Misc.</a:t>
            </a:r>
            <a:endParaRPr lang="en-GB" sz="3000" dirty="0"/>
          </a:p>
        </p:txBody>
      </p:sp>
      <p:sp>
        <p:nvSpPr>
          <p:cNvPr id="4" name="TextBox 3">
            <a:extLst>
              <a:ext uri="{FF2B5EF4-FFF2-40B4-BE49-F238E27FC236}">
                <a16:creationId xmlns:a16="http://schemas.microsoft.com/office/drawing/2014/main" id="{6F8CED36-6AFB-1125-F320-8AD6B5CE5113}"/>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1275DBFD-C838-B508-A382-5188826E2051}"/>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4262074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5D92-5709-CF9C-0CB9-3F71694716C6}"/>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1F7584E-8789-E7FF-2605-5B0B4C91C5A0}"/>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dirty="0"/>
              <a:t>AI-assisted development can significantly boost our productivity</a:t>
            </a:r>
          </a:p>
          <a:p>
            <a:pPr>
              <a:buFont typeface="Wingdings" pitchFamily="2" charset="2"/>
              <a:buChar char="v"/>
            </a:pPr>
            <a:r>
              <a:rPr lang="en-US" b="1" dirty="0">
                <a:solidFill>
                  <a:schemeClr val="accent2">
                    <a:lumMod val="75000"/>
                  </a:schemeClr>
                </a:solidFill>
              </a:rPr>
              <a:t>Generated code requires thorough review before use</a:t>
            </a:r>
            <a:endParaRPr lang="en-GB" b="1" dirty="0">
              <a:solidFill>
                <a:schemeClr val="accent2">
                  <a:lumMod val="75000"/>
                </a:schemeClr>
              </a:solidFill>
            </a:endParaRPr>
          </a:p>
          <a:p>
            <a:pPr>
              <a:buFont typeface="Wingdings" pitchFamily="2" charset="2"/>
              <a:buChar char="v"/>
            </a:pPr>
            <a:r>
              <a:rPr lang="en-GB" dirty="0"/>
              <a:t>Without proper validation, quality issues will slip through</a:t>
            </a:r>
          </a:p>
          <a:p>
            <a:pPr>
              <a:buFont typeface="Wingdings" pitchFamily="2" charset="2"/>
              <a:buChar char="v"/>
            </a:pPr>
            <a:r>
              <a:rPr lang="en-GB" sz="1800" dirty="0"/>
              <a:t>Developer’s role is changing: </a:t>
            </a:r>
            <a:r>
              <a:rPr lang="en-GB" sz="1800" b="1" dirty="0">
                <a:solidFill>
                  <a:schemeClr val="accent2">
                    <a:lumMod val="75000"/>
                  </a:schemeClr>
                </a:solidFill>
              </a:rPr>
              <a:t>less coding</a:t>
            </a:r>
            <a:r>
              <a:rPr lang="en-US" b="1" dirty="0">
                <a:solidFill>
                  <a:schemeClr val="accent2">
                    <a:lumMod val="75000"/>
                  </a:schemeClr>
                </a:solidFill>
              </a:rPr>
              <a:t>, more validating and reviewing</a:t>
            </a:r>
          </a:p>
          <a:p>
            <a:pPr>
              <a:buFont typeface="Wingdings" pitchFamily="2" charset="2"/>
              <a:buChar char="v"/>
            </a:pPr>
            <a:r>
              <a:rPr lang="en-GB" dirty="0"/>
              <a:t>All the software engineering principles—</a:t>
            </a:r>
            <a:r>
              <a:rPr lang="en-GB" b="1" dirty="0">
                <a:solidFill>
                  <a:schemeClr val="accent2">
                    <a:lumMod val="75000"/>
                  </a:schemeClr>
                </a:solidFill>
              </a:rPr>
              <a:t>testing, code reviews, design patterns</a:t>
            </a:r>
            <a:r>
              <a:rPr lang="en-GB" dirty="0"/>
              <a:t>—are still valid</a:t>
            </a:r>
          </a:p>
          <a:p>
            <a:pPr>
              <a:buFont typeface="Wingdings" pitchFamily="2" charset="2"/>
              <a:buChar char="v"/>
            </a:pPr>
            <a:r>
              <a:rPr lang="en-GB" dirty="0"/>
              <a:t>In fact, </a:t>
            </a:r>
            <a:r>
              <a:rPr lang="en-GB" b="1" dirty="0">
                <a:solidFill>
                  <a:schemeClr val="accent2">
                    <a:lumMod val="75000"/>
                  </a:schemeClr>
                </a:solidFill>
              </a:rPr>
              <a:t>these quality practices matter even more now</a:t>
            </a:r>
            <a:endParaRPr lang="en-GB" sz="1800" b="1" dirty="0">
              <a:solidFill>
                <a:schemeClr val="accent2">
                  <a:lumMod val="75000"/>
                </a:schemeClr>
              </a:solidFill>
            </a:endParaRPr>
          </a:p>
          <a:p>
            <a:pPr lvl="1">
              <a:buFont typeface="Wingdings" pitchFamily="2" charset="2"/>
              <a:buChar char="v"/>
            </a:pPr>
            <a:endParaRPr lang="en-GB" dirty="0"/>
          </a:p>
        </p:txBody>
      </p:sp>
      <p:sp>
        <p:nvSpPr>
          <p:cNvPr id="5" name="Title 4">
            <a:extLst>
              <a:ext uri="{FF2B5EF4-FFF2-40B4-BE49-F238E27FC236}">
                <a16:creationId xmlns:a16="http://schemas.microsoft.com/office/drawing/2014/main" id="{E763603B-C76B-98A1-7EDA-1DCF9970EF1A}"/>
              </a:ext>
            </a:extLst>
          </p:cNvPr>
          <p:cNvSpPr>
            <a:spLocks noGrp="1"/>
          </p:cNvSpPr>
          <p:nvPr>
            <p:ph type="title"/>
          </p:nvPr>
        </p:nvSpPr>
        <p:spPr>
          <a:xfrm>
            <a:off x="467999" y="528034"/>
            <a:ext cx="11257200" cy="515576"/>
          </a:xfrm>
        </p:spPr>
        <p:txBody>
          <a:bodyPr>
            <a:normAutofit fontScale="90000"/>
          </a:bodyPr>
          <a:lstStyle/>
          <a:p>
            <a:r>
              <a:rPr lang="en-US" sz="3000" dirty="0"/>
              <a:t>Closing Thoughts – Using AI Responsibly</a:t>
            </a:r>
            <a:endParaRPr lang="en-GB" sz="3000" dirty="0"/>
          </a:p>
        </p:txBody>
      </p:sp>
      <p:sp>
        <p:nvSpPr>
          <p:cNvPr id="4" name="TextBox 3">
            <a:extLst>
              <a:ext uri="{FF2B5EF4-FFF2-40B4-BE49-F238E27FC236}">
                <a16:creationId xmlns:a16="http://schemas.microsoft.com/office/drawing/2014/main" id="{92772025-5038-CB72-A0B6-0B87F5FEFB46}"/>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A249CA25-649B-1223-851C-6E03D48F2B74}"/>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1729647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ECB00-DB82-E212-A103-1AE469DB5FAB}"/>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36C0EEAB-55FF-C11C-B3DA-78181C5881BB}"/>
              </a:ext>
            </a:extLst>
          </p:cNvPr>
          <p:cNvSpPr>
            <a:spLocks noGrp="1"/>
          </p:cNvSpPr>
          <p:nvPr>
            <p:ph idx="1"/>
          </p:nvPr>
        </p:nvSpPr>
        <p:spPr>
          <a:xfrm>
            <a:off x="467999" y="1043611"/>
            <a:ext cx="10644501" cy="5362876"/>
          </a:xfrm>
        </p:spPr>
        <p:txBody>
          <a:bodyPr>
            <a:normAutofit/>
          </a:bodyPr>
          <a:lstStyle/>
          <a:p>
            <a:pPr>
              <a:buFont typeface="Wingdings" pitchFamily="2" charset="2"/>
              <a:buChar char="v"/>
            </a:pPr>
            <a:r>
              <a:rPr lang="en-GB" dirty="0"/>
              <a:t>Open Rewrite Framework Recipes: </a:t>
            </a:r>
            <a:r>
              <a:rPr lang="en-GB" dirty="0">
                <a:hlinkClick r:id="rId3"/>
              </a:rPr>
              <a:t>https://docs.openrewrite.org/recipes</a:t>
            </a:r>
            <a:endParaRPr lang="en-GB" dirty="0"/>
          </a:p>
          <a:p>
            <a:pPr>
              <a:buFont typeface="Wingdings" pitchFamily="2" charset="2"/>
              <a:buChar char="v"/>
            </a:pPr>
            <a:r>
              <a:rPr lang="en-GB" dirty="0"/>
              <a:t>Open Rewrite Java Lang Recipes: </a:t>
            </a:r>
            <a:r>
              <a:rPr lang="en-GB" dirty="0">
                <a:hlinkClick r:id="rId4"/>
              </a:rPr>
              <a:t>https://docs.openrewrite.org/recipes/java/migrate/lang</a:t>
            </a:r>
            <a:endParaRPr lang="en-GB" dirty="0"/>
          </a:p>
          <a:p>
            <a:pPr>
              <a:buFont typeface="Wingdings" pitchFamily="2" charset="2"/>
              <a:buChar char="v"/>
            </a:pPr>
            <a:r>
              <a:rPr lang="en-GB" dirty="0"/>
              <a:t>This presentation is condensed version of Medium article:</a:t>
            </a:r>
          </a:p>
          <a:p>
            <a:pPr lvl="1">
              <a:buFont typeface="Wingdings" pitchFamily="2" charset="2"/>
              <a:buChar char="v"/>
            </a:pPr>
            <a:r>
              <a:rPr lang="en-GB" dirty="0">
                <a:hlinkClick r:id="rId5"/>
              </a:rPr>
              <a:t>https://sri-chalam.medium.com/ai-assisted-java-upgrades-a-hybrid-approach-with-ai-instructions-and-openrewrite-669dc89d39b3</a:t>
            </a:r>
            <a:endParaRPr lang="en-GB" dirty="0"/>
          </a:p>
          <a:p>
            <a:pPr>
              <a:buFont typeface="Wingdings" pitchFamily="2" charset="2"/>
              <a:buChar char="v"/>
            </a:pPr>
            <a:r>
              <a:rPr lang="en-GB" dirty="0"/>
              <a:t>The AI instructions for Java 17 to 21: </a:t>
            </a:r>
          </a:p>
          <a:p>
            <a:pPr lvl="1">
              <a:buFont typeface="Wingdings" pitchFamily="2" charset="2"/>
              <a:buChar char="v"/>
            </a:pPr>
            <a:r>
              <a:rPr lang="en-GB" dirty="0">
                <a:hlinkClick r:id="rId6"/>
              </a:rPr>
              <a:t>https://github.com/sri-chalam/ai-tech-notes/blob/main/articles/ai-assisted-java-upgrade/java-17-to-21/instructions/java-17-to-21-upgrade-instructions.md#step-2-verify-current-java-version-prerequisite-check</a:t>
            </a:r>
            <a:endParaRPr lang="en-GB" dirty="0"/>
          </a:p>
          <a:p>
            <a:pPr>
              <a:buFont typeface="Wingdings" pitchFamily="2" charset="2"/>
              <a:buChar char="v"/>
            </a:pPr>
            <a:r>
              <a:rPr lang="en-GB" dirty="0"/>
              <a:t>The AI instructions for Java 21 to 25:</a:t>
            </a:r>
          </a:p>
          <a:p>
            <a:pPr lvl="1">
              <a:buFont typeface="Wingdings" pitchFamily="2" charset="2"/>
              <a:buChar char="v"/>
            </a:pPr>
            <a:r>
              <a:rPr lang="en-GB" dirty="0">
                <a:hlinkClick r:id="rId7"/>
              </a:rPr>
              <a:t>https://github.com/sri-chalam/ai-tech-notes/blob/main/articles/ai-assisted-java-upgrade/java-21-to-25/instructions/java-21-to-25-upgrade-instructions.md</a:t>
            </a:r>
            <a:endParaRPr lang="en-GB" dirty="0"/>
          </a:p>
          <a:p>
            <a:pPr>
              <a:buFont typeface="Wingdings" pitchFamily="2" charset="2"/>
              <a:buChar char="v"/>
            </a:pPr>
            <a:endParaRPr lang="en-GB" dirty="0"/>
          </a:p>
        </p:txBody>
      </p:sp>
      <p:sp>
        <p:nvSpPr>
          <p:cNvPr id="5" name="Title 4">
            <a:extLst>
              <a:ext uri="{FF2B5EF4-FFF2-40B4-BE49-F238E27FC236}">
                <a16:creationId xmlns:a16="http://schemas.microsoft.com/office/drawing/2014/main" id="{DECA7057-6F14-3A9A-F775-3D316DBE1780}"/>
              </a:ext>
            </a:extLst>
          </p:cNvPr>
          <p:cNvSpPr>
            <a:spLocks noGrp="1"/>
          </p:cNvSpPr>
          <p:nvPr>
            <p:ph type="title"/>
          </p:nvPr>
        </p:nvSpPr>
        <p:spPr>
          <a:xfrm>
            <a:off x="467999" y="528034"/>
            <a:ext cx="11257200" cy="515576"/>
          </a:xfrm>
        </p:spPr>
        <p:txBody>
          <a:bodyPr>
            <a:normAutofit fontScale="90000"/>
          </a:bodyPr>
          <a:lstStyle/>
          <a:p>
            <a:r>
              <a:rPr lang="en-US" sz="3000" dirty="0"/>
              <a:t>References</a:t>
            </a:r>
            <a:endParaRPr lang="en-GB" sz="3000" dirty="0"/>
          </a:p>
        </p:txBody>
      </p:sp>
      <p:sp>
        <p:nvSpPr>
          <p:cNvPr id="4" name="TextBox 3">
            <a:extLst>
              <a:ext uri="{FF2B5EF4-FFF2-40B4-BE49-F238E27FC236}">
                <a16:creationId xmlns:a16="http://schemas.microsoft.com/office/drawing/2014/main" id="{33648BC9-CF06-0B36-DB99-EB6F3C3FCC4E}"/>
              </a:ext>
            </a:extLst>
          </p:cNvPr>
          <p:cNvSpPr txBox="1"/>
          <p:nvPr/>
        </p:nvSpPr>
        <p:spPr>
          <a:xfrm>
            <a:off x="7725508" y="2649415"/>
            <a:ext cx="65" cy="184666"/>
          </a:xfrm>
          <a:prstGeom prst="rect">
            <a:avLst/>
          </a:prstGeom>
          <a:noFill/>
        </p:spPr>
        <p:txBody>
          <a:bodyPr wrap="none" lIns="0" tIns="0" rIns="0" bIns="0" numCol="1" spcCol="151200" rtlCol="0">
            <a:spAutoFit/>
          </a:bodyPr>
          <a:lstStyle/>
          <a:p>
            <a:endParaRPr lang="en-US" sz="1200" dirty="0"/>
          </a:p>
        </p:txBody>
      </p:sp>
      <p:sp>
        <p:nvSpPr>
          <p:cNvPr id="6" name="Slide Number Placeholder 5">
            <a:extLst>
              <a:ext uri="{FF2B5EF4-FFF2-40B4-BE49-F238E27FC236}">
                <a16:creationId xmlns:a16="http://schemas.microsoft.com/office/drawing/2014/main" id="{BDE9EFC1-D5E7-9692-15C2-254CF1CAE78A}"/>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30545350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2124</TotalTime>
  <Words>2858</Words>
  <Application>Microsoft Macintosh PowerPoint</Application>
  <PresentationFormat>Widescreen</PresentationFormat>
  <Paragraphs>374</Paragraphs>
  <Slides>26</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Trebuchet MS</vt:lpstr>
      <vt:lpstr>Wingdings</vt:lpstr>
      <vt:lpstr>Wingdings 3</vt:lpstr>
      <vt:lpstr>Facet</vt:lpstr>
      <vt:lpstr>AI Assisted Java Upgrades</vt:lpstr>
      <vt:lpstr>Agenda</vt:lpstr>
      <vt:lpstr>Where AI Fits in Software Development</vt:lpstr>
      <vt:lpstr>Java Upgrade - Can a Simple Prompt Work?</vt:lpstr>
      <vt:lpstr>Goals of AI Assisted Java Upgrade</vt:lpstr>
      <vt:lpstr>Approach 1: Open Rewrite – Refactoring Framework</vt:lpstr>
      <vt:lpstr>Open Rewrite – Usage in Gradle</vt:lpstr>
      <vt:lpstr>Open Rewrite – Example Usage</vt:lpstr>
      <vt:lpstr>Approach 2: AI Agents for Java Upgrade</vt:lpstr>
      <vt:lpstr>Hybrid Approach: Combining the best of Approach 1 and Approach 2</vt:lpstr>
      <vt:lpstr>AI Instruction File</vt:lpstr>
      <vt:lpstr>AI Instruction – Creating Using Natural Language Prompts</vt:lpstr>
      <vt:lpstr>AI Instruction – Important Points</vt:lpstr>
      <vt:lpstr>Sample AI Instruction Snippets</vt:lpstr>
      <vt:lpstr>Scope of Upgrade</vt:lpstr>
      <vt:lpstr>Steps in AI based Java Upgrade</vt:lpstr>
      <vt:lpstr>Build/Fix Loop</vt:lpstr>
      <vt:lpstr>Upgrade Logs</vt:lpstr>
      <vt:lpstr>Execute Upgrade</vt:lpstr>
      <vt:lpstr>Review Upgrade Logs</vt:lpstr>
      <vt:lpstr>Post Upgrade Steps</vt:lpstr>
      <vt:lpstr>Lessons Learned –Thorough Verification</vt:lpstr>
      <vt:lpstr>Lessons Learned – Shell –Key Words - Guidance</vt:lpstr>
      <vt:lpstr>Lessons Learned – Misc.</vt:lpstr>
      <vt:lpstr>Closing Thoughts – Using AI Responsibly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Chalamalasetti, Srinivas</dc:creator>
  <cp:lastModifiedBy>Chalamalasetti, Srinivas</cp:lastModifiedBy>
  <cp:revision>809</cp:revision>
  <dcterms:created xsi:type="dcterms:W3CDTF">2023-11-22T04:04:44Z</dcterms:created>
  <dcterms:modified xsi:type="dcterms:W3CDTF">2026-02-10T06:02:00Z</dcterms:modified>
</cp:coreProperties>
</file>