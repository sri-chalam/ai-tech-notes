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4" r:id="rId9"/>
    <p:sldId id="261" r:id="rId10"/>
    <p:sldId id="266" r:id="rId11"/>
    <p:sldId id="267" r:id="rId12"/>
    <p:sldId id="276" r:id="rId13"/>
    <p:sldId id="277" r:id="rId14"/>
    <p:sldId id="275" r:id="rId15"/>
    <p:sldId id="271" r:id="rId16"/>
    <p:sldId id="268" r:id="rId17"/>
    <p:sldId id="269" r:id="rId18"/>
    <p:sldId id="270" r:id="rId19"/>
    <p:sldId id="281" r:id="rId20"/>
    <p:sldId id="283" r:id="rId21"/>
    <p:sldId id="273" r:id="rId22"/>
    <p:sldId id="272" r:id="rId23"/>
    <p:sldId id="278" r:id="rId24"/>
    <p:sldId id="274" r:id="rId25"/>
    <p:sldId id="279" r:id="rId26"/>
    <p:sldId id="280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87515"/>
  </p:normalViewPr>
  <p:slideViewPr>
    <p:cSldViewPr snapToGrid="0">
      <p:cViewPr varScale="1">
        <p:scale>
          <a:sx n="131" d="100"/>
          <a:sy n="131" d="100"/>
        </p:scale>
        <p:origin x="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4" d="100"/>
          <a:sy n="114" d="100"/>
        </p:scale>
        <p:origin x="43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EAF31-E892-BD4A-AD1D-FE5076BA26F2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0FBDE-3B8A-D94D-90AA-2CE28CED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53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use cases of AI in day-to-day development work</a:t>
            </a:r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991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DBB1-4ED2-8529-9ED6-A13567C3C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FA62B-94AA-F3D5-009C-488E35174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888B7-1E2E-2F60-C431-4A612AA66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For existing projects, we can ask AI, 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Too much logic present in this class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. I want to use layered architecture and split the logic. Give a few ideas.”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b="1" dirty="0"/>
              <a:t>to improve testability of the code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?”, “This code can return up to 100 offers, are there any </a:t>
            </a: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performance problems in this code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? ”</a:t>
            </a:r>
          </a:p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GB" b="1" baseline="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this code more resilient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When there is a new initiative, we can chat with AI on ideas to use.</a:t>
            </a:r>
          </a:p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Show the </a:t>
            </a: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existing web page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 for Java upgrade – quite some manual work.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The manual approach has a big issue. </a:t>
            </a:r>
            <a:r>
              <a:rPr lang="en-GB" b="1" baseline="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just upgrades the version. Does not attempt to use use any features.</a:t>
            </a:r>
          </a:p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0187E-10CA-344B-3335-2386E7184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9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E206-5732-7EE1-CFA0-A4901D0B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77B97-413C-3E51-EBF7-BFDCC01BB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676BB-E37C-479C-02E2-A38EEADFB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similar to generating unit test cases with AI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We can </a:t>
            </a: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write one line prompt to add unit tests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But if we want to follow the industry best practices, then it takes couple of weeks to create instructions with many examples (examples for the right way and wrong way). 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Software engineering at Google. There are three chapters on how testing is done by Google developers.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21D85-B400-EB06-217B-8B13D580E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18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1642-2FCB-4937-13C1-788F1C45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C630D-FD23-7D8C-8397-6C631ED09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C519C-EC3C-CD9D-A19F-00C9FF13A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Hybrid approach: Take the best features of couple of approaches and put them into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E3B16-F139-6EFB-2813-C451C1A4C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89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AE3E-1487-1CE1-F108-E271232D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94150-A06C-3F29-4EFA-B18427044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A3B16-4AF6-E2B9-57F6-5E08BA1AF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The recipe 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UpgradeToJava17 has multiple other recipes</a:t>
            </a:r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C8C57-E358-5FAA-2413-6A245DB4A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022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E586-8920-84F6-EEF7-A7481247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77D23-42B9-FCC1-7577-84F27D7A9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CA6A1-56E9-9312-86DE-358754E09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baseline="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recipe </a:t>
            </a:r>
            <a:r>
              <a:rPr lang="en-US" sz="1200" b="1" dirty="0" err="1">
                <a:solidFill>
                  <a:schemeClr val="accent2">
                    <a:lumMod val="75000"/>
                  </a:schemeClr>
                </a:solidFill>
                <a:latin typeface=""/>
              </a:rPr>
              <a:t>org.openrewrite.java.migrate.SwitchPatternMatching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"/>
              </a:rPr>
              <a:t> is not required.</a:t>
            </a:r>
            <a:r>
              <a:rPr lang="en-US" sz="1200" dirty="0">
                <a:latin typeface=""/>
              </a:rPr>
              <a:t> </a:t>
            </a:r>
          </a:p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The presenter tried to show another recipe not included in UpgradeToJava21. But it is already included.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3BF2E-BE00-7BC3-F4A6-D1B81385E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8062-8502-B23E-10AE-ADFD33FE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1F90E-8652-9C7F-D8EA-8A3CA86C2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6B2B3-323C-22E5-3920-2C1497182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More reference:</a:t>
            </a:r>
          </a:p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GB" b="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docs.openrewrite.org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/recipes/java/migrate/lang/var/</a:t>
            </a:r>
            <a:r>
              <a:rPr lang="en-GB" b="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usevarforgenericsconstructors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GB" b="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docs.openrewrite.org</a:t>
            </a: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/recipes/java/migrate/lang/</a:t>
            </a:r>
            <a:r>
              <a:rPr lang="en-GB" b="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switchcaseenumguardtolabel</a:t>
            </a:r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6E424-2113-1310-EB2C-94580A455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9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A5DB-2CB1-AAEE-070F-AD409AC4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43A42-810C-34EC-7858-DD4280D8C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1EF83-2030-426F-E83D-856D28455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F9B41-89A9-D024-15F9-2D1DEDBDC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720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3C2B-E414-9E9D-0B6D-708837816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2BB7B-BCBF-8E38-1FFE-B0D0418F1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E6E6E-6111-F30A-E6D9-D12DD1D33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hybrid approach lacks the extensive training data from thousands of Java upgrades</a:t>
            </a:r>
            <a:r>
              <a:rPr lang="en-US" dirty="0"/>
              <a:t> that tools like Amazon Q</a:t>
            </a:r>
          </a:p>
          <a:p>
            <a:r>
              <a:rPr lang="en-US" b="0" baseline="0" dirty="0">
                <a:latin typeface="Arial" panose="020B0604020202020204" pitchFamily="34" charset="0"/>
                <a:cs typeface="Arial" panose="020B0604020202020204" pitchFamily="34" charset="0"/>
              </a:rPr>
              <a:t>We can mix match the approaches. For e.g. for Python project:</a:t>
            </a:r>
            <a:br>
              <a:rPr lang="en-US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baseline="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b="1" baseline="0" dirty="0">
                <a:latin typeface="Arial" panose="020B0604020202020204" pitchFamily="34" charset="0"/>
                <a:cs typeface="Arial" panose="020B0604020202020204" pitchFamily="34" charset="0"/>
              </a:rPr>
              <a:t>Use only AI agent and custom instructions</a:t>
            </a:r>
          </a:p>
          <a:p>
            <a:r>
              <a:rPr lang="en-US" b="0" baseline="0" dirty="0">
                <a:latin typeface="Arial" panose="020B0604020202020204" pitchFamily="34" charset="0"/>
                <a:cs typeface="Arial" panose="020B0604020202020204" pitchFamily="34" charset="0"/>
              </a:rPr>
              <a:t>2. Use only custom instructions</a:t>
            </a:r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FC5C2-8E08-546B-C0A4-E365AC0F6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666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F6CE-1345-C600-21DA-F4450A50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116EB-32DE-EF0B-DA7C-FF3C5E630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A765E-4216-63EC-4191-3897F68AE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F1786-3132-DB3B-90AC-45FE3E726C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806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9D0B-2596-876C-76A5-ED20EE24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55033-49ED-5F38-3442-D6888922D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B4814-4599-AFA8-FF11-B0706F527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1E09E-D997-65F1-ED8C-C64346252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041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82AA-440C-ED3C-CA44-1A676EE4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1CCC0-879C-22B1-C78A-C06F67BD9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726AC-95FD-54E7-4C1C-50E3A881E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D997-B0CA-D3CB-F18E-1874C7DBF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353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BFF2-0FAE-11B0-2B25-9BBD80A7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6CA72-3371-E5E9-7E88-77558B2EE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B520E-26F0-5481-F939-BF2855120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FF7CD-E5C9-4448-37DD-B11E8A4B2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183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601E-81D3-C4C0-9D29-247FF864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1B1BA-7CF1-36D7-62B5-5E97BFD44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88643-64DC-E72B-9CE7-798A79CC1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6E8A9-11E3-B713-B582-5E48B7C2C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643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02BF-BC8E-0952-98A7-D297699B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68EC7-45C8-4124-506D-121B69548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12D8E-061A-C833-B562-254270F3C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B8C79-9C46-17A3-9EEC-9388AE192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02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C5C2B-B9E2-7A50-1460-8F62D460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E42BA-949E-FF98-990E-229C38DA4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DCD42-D9F3-4773-FEFB-EB8C885F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6C521-F7E9-5E9A-4796-546133465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257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28854-4E2B-7B67-DA31-8572EC6F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92848-E723-BEEB-C1C8-6868780A9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DC936-5608-E9CF-FE2F-3C5B4D927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4F807-91FB-9536-7D8E-CD852A495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892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58CD-4711-5291-142A-2344CE3E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24128-446D-59C3-9E31-5CCD0113E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81171-AD8C-6879-B9E2-EC427294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AB24E-A8A5-667F-88BB-3EF500491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427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6AE05-CA6C-5701-7CEC-1AB469A0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B4E62-D883-A65E-4CD7-880E50314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D6E2E-4339-334D-22F4-5090B4372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4573-F6AA-E716-860F-24604AC0E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341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99C6-5F3B-7DA4-98AB-31A7C898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449BF-396B-B1A0-83DE-65DD13EBF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71E53-8C3B-2F3B-46A2-5572A884E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BA50E-1D43-E9B9-8DAD-43200C81D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795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D240-CA18-19AC-1347-65596E44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68FE4-720E-C642-5877-8F7ADC8CC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66E2F-3FC2-7591-D0E0-27DB19B81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If there are good automated tests, we can be very confident of the refactoring, upgrades.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B432B-6DB4-EC07-7FC5-7722ADC34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437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2FA7-6A5F-6D2D-29A2-AC914131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1501E-C555-E606-416A-E4BF71A4C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9D374-BD81-DC3A-2C9C-9F2BE4E88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Even if developers review thoroughly, AI still saves lot of time.</a:t>
            </a:r>
            <a:b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baseline="0" dirty="0">
                <a:latin typeface="Arial" panose="020B0604020202020204" pitchFamily="34" charset="0"/>
                <a:cs typeface="Arial" panose="020B0604020202020204" pitchFamily="34" charset="0"/>
              </a:rPr>
              <a:t>If we generate a script to automate this whole process without AI, it could have taken couple of sprints for a developer.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7B34F-2086-E81E-942B-83E9A2721A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248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61941-3145-245B-FDD3-E9B75D71C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A3D66-7A21-0304-B72C-F2BB3960A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74CBC-2EB8-90F2-6761-334C5B0DB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425CF-0DB4-B101-1684-CF1CF44AD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815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F7710-3A35-4174-7802-B01F39DB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4E3BE-DC88-37E1-A105-119DE4729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4E7C9-C5C0-42AC-BCB6-C64ABE43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40B7B-E92D-152B-0AD0-2398E6797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961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79F0-817F-A7C7-9E1E-82EC6B94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860A2-ADA1-B82B-172C-B4A6C0A35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42434-2E19-7B97-1D35-A32321077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Microsoft says 30% of the code is written by AI.</a:t>
            </a:r>
          </a:p>
          <a:p>
            <a:pPr marL="228600" indent="-228600">
              <a:buFont typeface="+mj-lt"/>
              <a:buAutoNum type="arabicPeriod"/>
            </a:pPr>
            <a:r>
              <a:rPr lang="en-GB" b="0" baseline="0" dirty="0">
                <a:latin typeface="Arial" panose="020B0604020202020204" pitchFamily="34" charset="0"/>
                <a:cs typeface="Arial" panose="020B0604020202020204" pitchFamily="34" charset="0"/>
              </a:rPr>
              <a:t>The Code churn doubled after AI tools are introduced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Microsoft’s researchers found that developers are missing 40% of bugs in the AI generated code.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seems to be that we could get some percentage of productivity boost with less effort. If want to get even more improvements, the effort is more.</a:t>
            </a:r>
          </a:p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6E6B1-71A1-5106-8AE4-66C18D104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6578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2A82-35A7-ABAA-AF7E-CD3C0E9A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3E3F4-DBBA-2FC8-2D52-2B120D67B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FDE0C-3845-4B95-E0C0-EE77AC92B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97ABA-D470-8D66-B89D-05E01D0D2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958377-8945-4A29-AA61-C5A798FE232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41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4E-9102-8846-8A07-CB076FB7D4EF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FDEB-9A7F-F844-9350-A7247DF15FB1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0CD2-DEB6-274C-A4AD-01F641434204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EFFE-3ABE-9B46-98B5-6BD487E20557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2423-071D-5444-B95F-BFB1C11CF8C2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618F7-0F82-8C44-8DB9-EAACE38C7A28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730-2437-F24C-A573-A723E1C02EC6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969B4-94EF-4548-A976-E821AF13D2CC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4723F-2F4B-0141-BBDF-DDE174A90A1B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43499-912D-B442-A7AB-B463AF045ECA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00687-B64B-3148-B3B5-B0745D4EE20F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42F97-DFEE-A949-95A0-A9B4DD8AA3EC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DA3D-EC4F-804C-B2D6-3D966C689C7C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CB4A-2909-A44B-BA32-D1F2D9CF4C7E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75A1-EA02-544F-820B-2CF18DB4A70B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C8043-76E4-914B-B9CB-3C534DE79F25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-chalam/ai-tech-notes/blob/main/articles/ai-assisted-java-upgrade/java-17-to-21/instructions/java-17-to-21-upgrade-instructions.m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-chalam/spring-petclinic-ai-java-upgrade/blob/main/docs/ai-tasks/instructions/instruction-building-prompts.md#iterative-prompt---gradle-wrapper-upgrade-if-require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-chalam/ai-tech-notes/blob/main/articles/ai-assisted-java-upgrade/java-17-to-21/instructions/java-17-to-21-upgrade-instructions.md#logging-requiremen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ri-chalam/ai-tech-notes/blob/main/articles/ai-assisted-java-upgrade/java-17-to-21/instructions/java-17-to-21-upgrade-instructions.md#step-2-verify-current-java-version-prerequisite-check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-chalam/ai-tech-notes/blob/main/articles/ai-assisted-java-upgrade/java-17-to-21/instructions/java-17-to-21-upgrade-instructions.m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ri-chalam/ai-tech-notes/blob/main/articles/ai-assisted-java-upgrade/java-21-to-25/instructions/java-21-to-25-upgrade-instructions.m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-chalam/ai-tech-notes/blob/main/articles/ai-assisted-java-upgrade/java-21-to-25/sample-logs/java-21-to-25-upgrade-log-1.md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ri-chalam/ai-tech-notes/blob/main/articles/ai-assisted-java-upgrade/java-17-to-21/sample-logs/java-17-to-21-upgrade-log-1.md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rewrite.org/" TargetMode="External"/><Relationship Id="rId7" Type="http://schemas.openxmlformats.org/officeDocument/2006/relationships/hyperlink" Target="https://github.com/sri-chalam/ai-tech-notes/blob/main/articles/ai-assisted-java-upgrade/java-21-to-25/instructions/java-21-to-25-upgrade-instructions.md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ri-chalam/ai-tech-notes/blob/main/articles/ai-assisted-java-upgrade/java-17-to-21/instructions/java-17-to-21-upgrade-instructions.md#step-2-verify-current-java-version-prerequisite-check" TargetMode="External"/><Relationship Id="rId5" Type="http://schemas.openxmlformats.org/officeDocument/2006/relationships/hyperlink" Target="https://sri-chalam.medium.com/ai-assisted-java-upgrades-a-hybrid-approach-with-ai-instructions-and-openrewrite-669dc89d39b3" TargetMode="External"/><Relationship Id="rId4" Type="http://schemas.openxmlformats.org/officeDocument/2006/relationships/hyperlink" Target="https://docs.openrewrite.org/recipes/java/migrate/la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FD94-41F5-5DFC-2585-E621F9B34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176670"/>
            <a:ext cx="7766936" cy="1874166"/>
          </a:xfrm>
        </p:spPr>
        <p:txBody>
          <a:bodyPr/>
          <a:lstStyle/>
          <a:p>
            <a:pPr algn="ctr"/>
            <a:r>
              <a:rPr lang="en-US" sz="3600" dirty="0"/>
              <a:t>AI Assisted Java Upgrades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F058D-F817-C1D5-0A69-875728800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 Hybrid Approach with AI Instructions and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OpenRewrite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82422-F53F-936E-94F9-10EC49EC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1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Where AI Fits in Software Development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US" sz="2000" dirty="0"/>
              <a:t>The Need for Detailed AI Instructions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US" sz="2000" dirty="0"/>
              <a:t>Java Upgrade Approach 1: </a:t>
            </a:r>
            <a:r>
              <a:rPr lang="en-US" sz="2000" dirty="0" err="1"/>
              <a:t>OpenRewrite</a:t>
            </a:r>
            <a:r>
              <a:rPr lang="en-US" sz="2000" dirty="0"/>
              <a:t> Framework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Java Upgrade Approach 2: AI Agents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GB" sz="2000" dirty="0"/>
              <a:t>Hybrid Approach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AI Instruction Files – Structure and Best Practices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Steps in the Java Upgrade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Demo – Java Upgrade in Action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US" sz="2000" dirty="0"/>
              <a:t>Review and Post-Upgrade Validation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GB" sz="2000" dirty="0"/>
              <a:t>Lessons Learned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Closing Thoughts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Agenda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F6F60-E733-7328-5703-F09FE75A5074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884A2-6BA2-5BD5-3570-9505765D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7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A534E-E5EE-F3F4-8303-BE16A0BE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F890B1-C748-11C1-657D-D85C299A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Where AI Can Help the Most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Bouncing off Ideas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Learning new concepts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Refactoring code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Automating repetitive tasks</a:t>
            </a:r>
            <a:endParaRPr lang="en-US" sz="2000" dirty="0"/>
          </a:p>
          <a:p>
            <a:pPr>
              <a:buFont typeface="Wingdings" pitchFamily="2" charset="2"/>
              <a:buChar char="v"/>
            </a:pPr>
            <a:r>
              <a:rPr lang="en-US" sz="2000" dirty="0"/>
              <a:t>Where AI Can Help A bit Less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Vibe coding – may be good for POC, but not for Enterprise applications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Enterprise applications need quite some best practices, org specific instructions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Need thousands of lines of instructions related to architecture, design, config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Let's see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how refactoring and automation apply</a:t>
            </a:r>
            <a:r>
              <a:rPr lang="en-US" sz="2000" dirty="0"/>
              <a:t> to a real-world use case: upgrading Java versions</a:t>
            </a:r>
            <a:endParaRPr lang="en-GB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DAA1C7-9B49-114A-6849-8EF8411E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Where AI Fits in Software Development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1D7D6-64A7-0610-3EE9-985494B2069F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A2002-4B7E-E165-7825-BBD00448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38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2AB9-0690-1F6A-7AEF-F94DB88D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F418D8-DC75-B4DD-028E-C7AA0C7A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Will a simple prompt like this work? “upgrade this project from Java 17 to Java 21”</a:t>
            </a:r>
            <a:r>
              <a:rPr lang="en-US" sz="2400" dirty="0"/>
              <a:t> 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Upgrades a few libraries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Doesn’t handle end-to-end automation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Doesn't verify or install the required JDK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Limitations of one-line prompt: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The prompt is not detailed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Which Java distribution? Amazon </a:t>
            </a:r>
            <a:r>
              <a:rPr lang="en-US" sz="1800" dirty="0" err="1"/>
              <a:t>Corretto</a:t>
            </a:r>
            <a:r>
              <a:rPr lang="en-US" sz="1800" dirty="0"/>
              <a:t>, Microsoft, Red Hat, Azul?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Which package manager to use?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Organization-specific requirements like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Trusted certificates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Installation directory </a:t>
            </a:r>
            <a:endParaRPr lang="en-GB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764E5-D2BB-0375-6A2E-B736CFFF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Java Upgrade - Can a Simple Prompt Work?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A2FFF-561E-DDE0-AC7E-51B68FE1B549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2284E-42BE-3A63-05A8-6F16FCEA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97F87-4483-868D-5B7A-F046FE0D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32AB9C-E1CF-B514-526C-27BCEE1D3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Hybrid Approach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Use good features of AI and Open Rewrite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Use AI Build/Fix Loop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Not only upgrade – install JDK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Use Organization specific conventions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Install under directory with permissions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Import Organization certificates into new JDK</a:t>
            </a:r>
            <a:r>
              <a:rPr lang="en-US" sz="2200" dirty="0"/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Use selected non-invasive new Language features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Proactively give clear instructions for known library upgrades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LLM Agnostic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21CCFA-362E-BEF1-6921-31CCAF5E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Goals of AI Assisted Java Upgrade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BDB96-31B3-E517-F2A5-9C44BFEE9359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8FF6-8FAD-2B24-F64A-960CA835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4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A4D3-F467-437F-BE24-226894D0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943A00-6975-DE7C-1DB4-4E759926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709614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Very active community based automated refactoring framework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Provides recipes for code refactoring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Java 17 upgrade Recipe - org.openrewrite.java.migrate.UpgradeToJava17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 err="1"/>
              <a:t>org.openrewrite.java.migrate.jakarta.JavaxToJakarta</a:t>
            </a:r>
            <a:endParaRPr lang="en-US" sz="1800" dirty="0"/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Change all “</a:t>
            </a:r>
            <a:r>
              <a:rPr lang="en-US" sz="1600" dirty="0" err="1"/>
              <a:t>javax</a:t>
            </a:r>
            <a:r>
              <a:rPr lang="en-US" sz="1600" dirty="0"/>
              <a:t>.*” to “</a:t>
            </a:r>
            <a:r>
              <a:rPr lang="en-US" sz="1600" dirty="0" err="1"/>
              <a:t>jakarta</a:t>
            </a:r>
            <a:r>
              <a:rPr lang="en-US" sz="1600" dirty="0"/>
              <a:t>.*”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 err="1"/>
              <a:t>org.openrewrite.java.migrate.SwitchPatternMatching</a:t>
            </a:r>
            <a:endParaRPr lang="en-US" sz="1800" dirty="0"/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Use new pattern matching feature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Use </a:t>
            </a:r>
            <a:r>
              <a:rPr lang="en-US" sz="1800" dirty="0" err="1"/>
              <a:t>UseVarForGenericsConstructors</a:t>
            </a:r>
            <a:r>
              <a:rPr lang="en-US" sz="1800" dirty="0"/>
              <a:t>, </a:t>
            </a:r>
            <a:r>
              <a:rPr lang="en-US" sz="1800" dirty="0" err="1"/>
              <a:t>LombokValueToRecord</a:t>
            </a:r>
            <a:r>
              <a:rPr lang="en-US" sz="1800" dirty="0"/>
              <a:t>, </a:t>
            </a:r>
            <a:r>
              <a:rPr lang="en-US" sz="1800" dirty="0" err="1"/>
              <a:t>ifelseifconstructtoswitch</a:t>
            </a:r>
            <a:endParaRPr lang="en-US" sz="1800" dirty="0"/>
          </a:p>
          <a:p>
            <a:pPr>
              <a:buFont typeface="Wingdings" pitchFamily="2" charset="2"/>
              <a:buChar char="v"/>
            </a:pPr>
            <a:r>
              <a:rPr lang="en-US" sz="2000" dirty="0"/>
              <a:t>Composite Recipes - bundles multiple recipes into one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Limited Recipes for other programming languages</a:t>
            </a:r>
          </a:p>
          <a:p>
            <a:pPr>
              <a:buFont typeface="Wingdings" pitchFamily="2" charset="2"/>
              <a:buChar char="v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Custom recipes can be built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Used as underlying framework by AI Agents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Amazon Q and Copilot App Modernization AI agents use Open Rewrite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Can be used for multiple other refactor use cases</a:t>
            </a:r>
          </a:p>
          <a:p>
            <a:pPr>
              <a:buFont typeface="Wingdings" pitchFamily="2" charset="2"/>
              <a:buChar char="v"/>
            </a:pPr>
            <a:endParaRPr lang="en-GB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9DE3E2-E0DF-4FCA-2051-12E80FC8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/>
          </a:bodyPr>
          <a:lstStyle/>
          <a:p>
            <a:r>
              <a:rPr lang="en-US" sz="2400" dirty="0"/>
              <a:t>Java Upgrade Approach 1: Open Rewrite – Refactoring Framework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FAFCD-FE29-894E-E87C-C00861C857DC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099B8-1126-909D-307B-D573EF38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CB74-5E26-E608-608F-7921BECA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DE6283-3C1E-E35C-6232-3AAC9B947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0"/>
            <a:ext cx="10644501" cy="55984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dirty="0"/>
              <a:t>Gradle Plugin and Dependencies</a:t>
            </a:r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dirty="0"/>
              <a:t>Executing Selected Recipes – Among so many recipes </a:t>
            </a:r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itchFamily="2" charset="2"/>
              <a:buChar char="v"/>
            </a:pPr>
            <a:endParaRPr lang="en-GB" sz="2400" dirty="0"/>
          </a:p>
          <a:p>
            <a:pPr>
              <a:buFont typeface="Wingdings" pitchFamily="2" charset="2"/>
              <a:buChar char="v"/>
            </a:pPr>
            <a:endParaRPr lang="en-GB" sz="2400" dirty="0"/>
          </a:p>
          <a:p>
            <a:pPr>
              <a:buFont typeface="Wingdings" pitchFamily="2" charset="2"/>
              <a:buChar char="v"/>
            </a:pPr>
            <a:endParaRPr lang="en-GB" sz="2400" dirty="0"/>
          </a:p>
          <a:p>
            <a:pPr>
              <a:buFont typeface="Wingdings" pitchFamily="2" charset="2"/>
              <a:buChar char="v"/>
            </a:pPr>
            <a:endParaRPr lang="en-GB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C7B1A9-5D5F-BCD5-0E4B-1095E259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Open Rewrite – Usage in Gradle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9BCD2-292A-18C1-B8C2-CBECFDA493ED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BD974-B779-A03F-CC8B-ACE183E839BE}"/>
              </a:ext>
            </a:extLst>
          </p:cNvPr>
          <p:cNvSpPr txBox="1"/>
          <p:nvPr/>
        </p:nvSpPr>
        <p:spPr>
          <a:xfrm>
            <a:off x="694461" y="1473200"/>
            <a:ext cx="83394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"/>
              </a:rPr>
              <a:t>plugins {</a:t>
            </a:r>
          </a:p>
          <a:p>
            <a:r>
              <a:rPr lang="en-US" sz="1600" dirty="0">
                <a:latin typeface=""/>
              </a:rPr>
              <a:t>  // ... existing plugins ...</a:t>
            </a:r>
          </a:p>
          <a:p>
            <a:r>
              <a:rPr lang="en-US" sz="1600" dirty="0">
                <a:latin typeface=""/>
              </a:rPr>
              <a:t>  id("</a:t>
            </a:r>
            <a:r>
              <a:rPr lang="en-US" sz="1600" dirty="0" err="1">
                <a:latin typeface=""/>
              </a:rPr>
              <a:t>org.openrewrite.rewrite</a:t>
            </a:r>
            <a:r>
              <a:rPr lang="en-US" sz="1600" dirty="0">
                <a:latin typeface=""/>
              </a:rPr>
              <a:t>") version "7.25.0"</a:t>
            </a:r>
          </a:p>
          <a:p>
            <a:r>
              <a:rPr lang="en-US" sz="1600" dirty="0">
                <a:latin typeface=""/>
              </a:rPr>
              <a:t>}</a:t>
            </a:r>
          </a:p>
          <a:p>
            <a:endParaRPr lang="en-US" sz="1600" dirty="0">
              <a:latin typeface=""/>
            </a:endParaRPr>
          </a:p>
          <a:p>
            <a:r>
              <a:rPr lang="en-US" sz="1600" dirty="0">
                <a:latin typeface=""/>
              </a:rPr>
              <a:t>dependencies {</a:t>
            </a:r>
          </a:p>
          <a:p>
            <a:r>
              <a:rPr lang="en-US" sz="1600" dirty="0">
                <a:latin typeface=""/>
              </a:rPr>
              <a:t>    // ... existing dependencies ...</a:t>
            </a:r>
          </a:p>
          <a:p>
            <a:endParaRPr lang="en-US" sz="1600" dirty="0">
              <a:latin typeface=""/>
            </a:endParaRPr>
          </a:p>
          <a:p>
            <a:r>
              <a:rPr lang="en-US" sz="1600" dirty="0">
                <a:latin typeface=""/>
              </a:rPr>
              <a:t>    // Import the BOM to manage versions automatically</a:t>
            </a:r>
          </a:p>
          <a:p>
            <a:r>
              <a:rPr lang="en-US" sz="1600" dirty="0">
                <a:latin typeface=""/>
              </a:rPr>
              <a:t>    rewrite(platform("org.openrewrite.recipe:rewrite-recipe-bom:3.23.0"))</a:t>
            </a:r>
          </a:p>
          <a:p>
            <a:endParaRPr lang="en-US" sz="1600" dirty="0">
              <a:latin typeface=""/>
            </a:endParaRPr>
          </a:p>
          <a:p>
            <a:r>
              <a:rPr lang="en-US" sz="1600" dirty="0">
                <a:latin typeface=""/>
              </a:rPr>
              <a:t>    // Add the specific migration artifact without a version</a:t>
            </a:r>
          </a:p>
          <a:p>
            <a:r>
              <a:rPr lang="en-US" sz="1600" dirty="0">
                <a:latin typeface=""/>
              </a:rPr>
              <a:t>    rewrite("</a:t>
            </a:r>
            <a:r>
              <a:rPr lang="en-US" sz="1600" dirty="0" err="1">
                <a:latin typeface=""/>
              </a:rPr>
              <a:t>org.openrewrite.recipe:rewrite-migrate-java</a:t>
            </a:r>
            <a:r>
              <a:rPr lang="en-US" sz="1600" dirty="0">
                <a:latin typeface=""/>
              </a:rPr>
              <a:t>")</a:t>
            </a:r>
          </a:p>
          <a:p>
            <a:r>
              <a:rPr lang="en-US" sz="1600" dirty="0">
                <a:latin typeface="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DBB4C-535E-6A00-3CDF-5C0477062274}"/>
              </a:ext>
            </a:extLst>
          </p:cNvPr>
          <p:cNvSpPr txBox="1"/>
          <p:nvPr/>
        </p:nvSpPr>
        <p:spPr>
          <a:xfrm>
            <a:off x="690132" y="5498969"/>
            <a:ext cx="8593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"/>
              </a:rPr>
              <a:t>./</a:t>
            </a:r>
            <a:r>
              <a:rPr lang="en-US" sz="1600" dirty="0" err="1">
                <a:latin typeface=""/>
              </a:rPr>
              <a:t>gradlew</a:t>
            </a:r>
            <a:r>
              <a:rPr lang="en-US" sz="1600" dirty="0">
                <a:latin typeface=""/>
              </a:rPr>
              <a:t> </a:t>
            </a:r>
            <a:r>
              <a:rPr lang="en-US" sz="1600" dirty="0" err="1">
                <a:latin typeface=""/>
              </a:rPr>
              <a:t>rewriteRun</a:t>
            </a:r>
            <a:r>
              <a:rPr lang="en-US" sz="1600" dirty="0">
                <a:latin typeface=""/>
              </a:rPr>
              <a:t> \</a:t>
            </a:r>
          </a:p>
          <a:p>
            <a:r>
              <a:rPr lang="en-US" sz="1600" dirty="0">
                <a:latin typeface=""/>
              </a:rPr>
              <a:t>  -</a:t>
            </a:r>
            <a:r>
              <a:rPr lang="en-US" sz="1600" dirty="0" err="1">
                <a:latin typeface=""/>
              </a:rPr>
              <a:t>Drewrite.activeRecipes</a:t>
            </a:r>
            <a:r>
              <a:rPr lang="en-US" sz="1600" dirty="0">
                <a:latin typeface=""/>
              </a:rPr>
              <a:t>=org.openrewrite.java.migrate.UpgradeToJava21,\</a:t>
            </a:r>
          </a:p>
          <a:p>
            <a:r>
              <a:rPr lang="en-US" sz="1600" dirty="0" err="1">
                <a:latin typeface=""/>
              </a:rPr>
              <a:t>org.openrewrite.java.migrate.SwitchPatternMatching</a:t>
            </a:r>
            <a:endParaRPr lang="en-US" sz="1600" dirty="0">
              <a:latin typeface="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081AB-4396-E6FA-8EA4-F2FD9ACF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883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E435-D3F8-C2F7-5542-050E6391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353803-87EE-8F04-FD04-28A3BE2C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org.openrewrite.java.migrate.lang.SwitchCaseReturnsToSwitchExpression</a:t>
            </a:r>
          </a:p>
          <a:p>
            <a:pPr>
              <a:buFont typeface="Wingdings" pitchFamily="2" charset="2"/>
              <a:buChar char="v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Scans the application and applies changes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Before</a:t>
            </a:r>
          </a:p>
          <a:p>
            <a:pPr>
              <a:buFont typeface="Wingdings" pitchFamily="2" charset="2"/>
              <a:buChar char="v"/>
            </a:pPr>
            <a:endParaRPr lang="en-US" sz="2400" dirty="0"/>
          </a:p>
          <a:p>
            <a:pPr>
              <a:buFont typeface="Wingdings" pitchFamily="2" charset="2"/>
              <a:buChar char="v"/>
            </a:pPr>
            <a:endParaRPr lang="en-US" sz="2400" dirty="0"/>
          </a:p>
          <a:p>
            <a:pPr>
              <a:buFont typeface="Wingdings" pitchFamily="2" charset="2"/>
              <a:buChar char="v"/>
            </a:pPr>
            <a:endParaRPr lang="en-US" sz="2400" dirty="0"/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itchFamily="2" charset="2"/>
              <a:buChar char="v"/>
            </a:pPr>
            <a:r>
              <a:rPr lang="en-US" sz="1600" dirty="0"/>
              <a:t>After</a:t>
            </a:r>
          </a:p>
          <a:p>
            <a:pPr>
              <a:buFont typeface="Wingdings" pitchFamily="2" charset="2"/>
              <a:buChar char="v"/>
            </a:pPr>
            <a:endParaRPr lang="en-GB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606F40-3173-83E4-3E76-E5E526DD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Open Rewrite – Example Usage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CBA8A-DE21-ACCE-7BC1-1CC443FDAB10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6E74F-ADAB-06CB-DDB5-8C640BCD7760}"/>
              </a:ext>
            </a:extLst>
          </p:cNvPr>
          <p:cNvSpPr txBox="1"/>
          <p:nvPr/>
        </p:nvSpPr>
        <p:spPr>
          <a:xfrm>
            <a:off x="770661" y="4652161"/>
            <a:ext cx="8339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"/>
              </a:rPr>
              <a:t>class Test {</a:t>
            </a:r>
          </a:p>
          <a:p>
            <a:r>
              <a:rPr lang="en-US" sz="1200" dirty="0">
                <a:latin typeface=""/>
              </a:rPr>
              <a:t>    String </a:t>
            </a:r>
            <a:r>
              <a:rPr lang="en-US" sz="1200" dirty="0" err="1">
                <a:latin typeface=""/>
              </a:rPr>
              <a:t>doFormat</a:t>
            </a:r>
            <a:r>
              <a:rPr lang="en-US" sz="1200" dirty="0">
                <a:latin typeface=""/>
              </a:rPr>
              <a:t>(String str) {</a:t>
            </a:r>
          </a:p>
          <a:p>
            <a:r>
              <a:rPr lang="en-US" sz="1200" dirty="0">
                <a:latin typeface=""/>
              </a:rPr>
              <a:t>        return switch (str) {</a:t>
            </a:r>
          </a:p>
          <a:p>
            <a:r>
              <a:rPr lang="en-US" sz="1200" dirty="0">
                <a:latin typeface=""/>
              </a:rPr>
              <a:t>            case "foo", "bar" -&gt; "</a:t>
            </a:r>
            <a:r>
              <a:rPr lang="en-US" sz="1200" dirty="0" err="1">
                <a:latin typeface=""/>
              </a:rPr>
              <a:t>FooBar</a:t>
            </a:r>
            <a:r>
              <a:rPr lang="en-US" sz="1200" dirty="0">
                <a:latin typeface=""/>
              </a:rPr>
              <a:t>";</a:t>
            </a:r>
          </a:p>
          <a:p>
            <a:r>
              <a:rPr lang="en-US" sz="1200" dirty="0">
                <a:latin typeface=""/>
              </a:rPr>
              <a:t>            case "</a:t>
            </a:r>
            <a:r>
              <a:rPr lang="en-US" sz="1200" dirty="0" err="1">
                <a:latin typeface=""/>
              </a:rPr>
              <a:t>baz</a:t>
            </a:r>
            <a:r>
              <a:rPr lang="en-US" sz="1200" dirty="0">
                <a:latin typeface=""/>
              </a:rPr>
              <a:t>" -&gt; "Baz";</a:t>
            </a:r>
          </a:p>
          <a:p>
            <a:r>
              <a:rPr lang="en-US" sz="1200" dirty="0">
                <a:latin typeface=""/>
              </a:rPr>
              <a:t>            default -&gt; "Other";</a:t>
            </a:r>
          </a:p>
          <a:p>
            <a:r>
              <a:rPr lang="en-US" sz="1200" dirty="0">
                <a:latin typeface=""/>
              </a:rPr>
              <a:t>        };</a:t>
            </a:r>
          </a:p>
          <a:p>
            <a:r>
              <a:rPr lang="en-US" sz="1200" dirty="0">
                <a:latin typeface=""/>
              </a:rPr>
              <a:t>    }</a:t>
            </a:r>
          </a:p>
          <a:p>
            <a:r>
              <a:rPr lang="en-US" sz="1200" dirty="0">
                <a:latin typeface="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93E70-511F-820B-33EF-03FB21D7755F}"/>
              </a:ext>
            </a:extLst>
          </p:cNvPr>
          <p:cNvSpPr txBox="1"/>
          <p:nvPr/>
        </p:nvSpPr>
        <p:spPr>
          <a:xfrm>
            <a:off x="1003300" y="2200275"/>
            <a:ext cx="8339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"/>
              </a:rPr>
              <a:t>class Test {</a:t>
            </a:r>
          </a:p>
          <a:p>
            <a:r>
              <a:rPr lang="en-US" sz="1200" dirty="0">
                <a:latin typeface=""/>
              </a:rPr>
              <a:t>    String </a:t>
            </a:r>
            <a:r>
              <a:rPr lang="en-US" sz="1200" dirty="0" err="1">
                <a:latin typeface=""/>
              </a:rPr>
              <a:t>doFormat</a:t>
            </a:r>
            <a:r>
              <a:rPr lang="en-US" sz="1200" dirty="0">
                <a:latin typeface=""/>
              </a:rPr>
              <a:t>(String str) {</a:t>
            </a:r>
          </a:p>
          <a:p>
            <a:r>
              <a:rPr lang="en-US" sz="1200" dirty="0">
                <a:latin typeface=""/>
              </a:rPr>
              <a:t>        switch (str) {</a:t>
            </a:r>
          </a:p>
          <a:p>
            <a:r>
              <a:rPr lang="en-US" sz="1200" dirty="0">
                <a:latin typeface=""/>
              </a:rPr>
              <a:t>            case "foo", "bar": return "</a:t>
            </a:r>
            <a:r>
              <a:rPr lang="en-US" sz="1200" dirty="0" err="1">
                <a:latin typeface=""/>
              </a:rPr>
              <a:t>FooBar</a:t>
            </a:r>
            <a:r>
              <a:rPr lang="en-US" sz="1200" dirty="0">
                <a:latin typeface=""/>
              </a:rPr>
              <a:t>";</a:t>
            </a:r>
          </a:p>
          <a:p>
            <a:r>
              <a:rPr lang="en-US" sz="1200" dirty="0">
                <a:latin typeface=""/>
              </a:rPr>
              <a:t>            case "</a:t>
            </a:r>
            <a:r>
              <a:rPr lang="en-US" sz="1200" dirty="0" err="1">
                <a:latin typeface=""/>
              </a:rPr>
              <a:t>baz</a:t>
            </a:r>
            <a:r>
              <a:rPr lang="en-US" sz="1200" dirty="0">
                <a:latin typeface=""/>
              </a:rPr>
              <a:t>": return "Baz";</a:t>
            </a:r>
          </a:p>
          <a:p>
            <a:r>
              <a:rPr lang="en-US" sz="1200" dirty="0">
                <a:latin typeface=""/>
              </a:rPr>
              <a:t>            default: return "Other";</a:t>
            </a:r>
          </a:p>
          <a:p>
            <a:r>
              <a:rPr lang="en-US" sz="1200" dirty="0">
                <a:latin typeface=""/>
              </a:rPr>
              <a:t>        }</a:t>
            </a:r>
          </a:p>
          <a:p>
            <a:r>
              <a:rPr lang="en-US" sz="1200" dirty="0">
                <a:latin typeface=""/>
              </a:rPr>
              <a:t>    }</a:t>
            </a:r>
          </a:p>
          <a:p>
            <a:r>
              <a:rPr lang="en-US" sz="1200" dirty="0">
                <a:latin typeface=""/>
              </a:rPr>
              <a:t>}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466BA-F64F-9925-E41A-323F07A3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6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049D-34A6-AE55-72C3-D555CE0F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5069BF-E6B0-B232-CB69-95652A3A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/>
              <a:t>Examples: Amazon Q Developer, Copilot App Modernization, Moderne AI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Pros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Upgrade Java applications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Backed by extensive upgrade data</a:t>
            </a:r>
            <a:r>
              <a:rPr lang="en-US" sz="1800" dirty="0"/>
              <a:t> — AWS tested Amazon Q on 1,000+ internal application upgrades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/>
              <a:t>Cons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Unaware of Org-specific conventions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Need customization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Pay license fee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LLM Restrictions</a:t>
            </a:r>
          </a:p>
          <a:p>
            <a:pPr lvl="2">
              <a:buFont typeface="Wingdings" pitchFamily="2" charset="2"/>
              <a:buChar char="v"/>
            </a:pPr>
            <a:r>
              <a:rPr lang="en-US" sz="1600" dirty="0"/>
              <a:t>Amazon Q works only with certain Models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Support of new Language versions is delayed</a:t>
            </a:r>
          </a:p>
          <a:p>
            <a:pPr lvl="1">
              <a:buFont typeface="Wingdings" pitchFamily="2" charset="2"/>
              <a:buChar char="v"/>
            </a:pPr>
            <a:endParaRPr lang="en-GB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74813D-9D8F-E7F0-0017-60A6166D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/>
          </a:bodyPr>
          <a:lstStyle/>
          <a:p>
            <a:r>
              <a:rPr lang="en-US" sz="2400" dirty="0"/>
              <a:t>Java Upgrade Approach 2: AI Agents for Java Upgrade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47368-5CF7-FF89-D50E-004B1CCE8BEE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87FE-0EB7-FCA6-3D21-18DB77F4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6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DDCC-7FD4-31EE-D7C1-06373095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839590-428A-B2B5-5D70-F9C10484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/>
              <a:t>Use custom instructions file that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</a:rPr>
              <a:t>combines good features of multiple options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Use Open Rewrite for deterministic changes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Repositories may have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edge cases, third party libraries, not handled</a:t>
            </a:r>
            <a:r>
              <a:rPr lang="en-GB" sz="1800" dirty="0"/>
              <a:t> by Open Rewrite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Use AI that can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search the internet for solutions</a:t>
            </a:r>
            <a:r>
              <a:rPr lang="en-GB" sz="1800" dirty="0"/>
              <a:t> to issues not handled by </a:t>
            </a:r>
            <a:r>
              <a:rPr lang="en-GB" sz="1800" dirty="0" err="1"/>
              <a:t>OpenRewrite</a:t>
            </a:r>
            <a:endParaRPr lang="en-GB" sz="1800" dirty="0"/>
          </a:p>
          <a:p>
            <a:pPr>
              <a:buFont typeface="Wingdings" pitchFamily="2" charset="2"/>
              <a:buChar char="v"/>
            </a:pPr>
            <a:r>
              <a:rPr lang="en-GB" sz="2000" dirty="0"/>
              <a:t>Use build/fix loop similar to AI agents</a:t>
            </a:r>
            <a:endParaRPr lang="en-GB" sz="1800" dirty="0"/>
          </a:p>
          <a:p>
            <a:pPr>
              <a:buFont typeface="Wingdings" pitchFamily="2" charset="2"/>
              <a:buChar char="v"/>
            </a:pPr>
            <a:r>
              <a:rPr lang="en-GB" sz="2000" dirty="0"/>
              <a:t>Efficiency: Use clear instructions on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</a:rPr>
              <a:t>common library upgrade needs</a:t>
            </a:r>
            <a:r>
              <a:rPr lang="en-GB" sz="2000" dirty="0"/>
              <a:t> – AI solves these but takes time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Most Java applications use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Lombok, Spotless formatting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Every Java upgrade needs Lombok library upgrade –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AI can figure it out – but takes time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Proactive instruction</a:t>
            </a:r>
            <a:r>
              <a:rPr lang="en-GB" sz="1800" dirty="0"/>
              <a:t> on how to Handle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Lombok reduces upgrade time</a:t>
            </a:r>
            <a:r>
              <a:rPr lang="en-GB" sz="1800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664F8B-06C5-D324-1B18-6839E64B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/>
          </a:bodyPr>
          <a:lstStyle/>
          <a:p>
            <a:r>
              <a:rPr lang="en-US" sz="2200" dirty="0"/>
              <a:t>Hybrid Approach: Combining the best of Approach 1 and Approach 2</a:t>
            </a:r>
            <a:endParaRPr lang="en-GB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71D49-3608-0E36-6A3E-5348CD39B309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88DE0-BEC8-FD33-95A8-6E335E57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898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6554-1A72-DC64-25A6-7533D1DB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5E0129-8B16-5BAF-BCE4-B2AACAD30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/>
              <a:t>AI Instructions in Markdown format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Write all steps involved in a Markdown file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Use natural language prompts iteratively to generate instruction file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2,500 lines instructions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Instructions of Java 17 to 21: </a:t>
            </a:r>
            <a:r>
              <a:rPr lang="en-GB" sz="2000" dirty="0">
                <a:hlinkClick r:id="rId3"/>
              </a:rPr>
              <a:t>https://github.com/sri-chalam/ai-tech-notes/blob/main/articles/ai-assisted-java-upgrade/java-17-to-21/instructions/java-17-to-21-upgrade-instructions.md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01F2F0-5147-C952-F6C9-15DE1275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AI Instruction File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D7BDF-EDF9-728F-E214-22489CA86F45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8BF1F-872F-24A7-9B34-F7C9896D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92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5CA28-54A4-7F41-30C0-A81F1012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696441-52C9-5B6F-30D6-3932EC63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Sample prompt to add instruction to handle only Gradle not Maven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Note: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Prompts that generate the instruction file don't need formal language — just be clear and specific</a:t>
            </a:r>
            <a:endParaRPr lang="en-GB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Sample instructions used URL: </a:t>
            </a:r>
            <a:r>
              <a:rPr lang="en-GB" sz="2000" dirty="0">
                <a:hlinkClick r:id="rId3"/>
              </a:rPr>
              <a:t>https://github.com/sri-chalam/spring-petclinic-ai-java-upgrade/blob/main/docs/ai-tasks/instructions/instruction-building-prompts.md#iterative-prompt---gradle-wrapper-upgrade-if-required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GB" sz="2000" dirty="0"/>
              <a:t> </a:t>
            </a:r>
          </a:p>
          <a:p>
            <a:pPr>
              <a:buFont typeface="Wingdings" pitchFamily="2" charset="2"/>
              <a:buChar char="v"/>
            </a:pP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A108B2-724D-83A2-957B-D5665814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AI Instruction – Creating Using Natural Language Prompts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993ED-F9B6-4AB1-9883-C2712ABA4671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92509-B69A-FFF8-70A5-1FAC8298DFCA}"/>
              </a:ext>
            </a:extLst>
          </p:cNvPr>
          <p:cNvSpPr txBox="1"/>
          <p:nvPr/>
        </p:nvSpPr>
        <p:spPr>
          <a:xfrm>
            <a:off x="812995" y="1449085"/>
            <a:ext cx="8339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"/>
              </a:rPr>
              <a:t>Add an instruction to indicate that upgrade only Gradle, which includes Gradle wrapper, </a:t>
            </a:r>
            <a:r>
              <a:rPr lang="en-US" sz="1400" dirty="0" err="1">
                <a:latin typeface=""/>
              </a:rPr>
              <a:t>build.gradle</a:t>
            </a:r>
            <a:r>
              <a:rPr lang="en-US" sz="1400" dirty="0">
                <a:latin typeface=""/>
              </a:rPr>
              <a:t>, </a:t>
            </a:r>
            <a:r>
              <a:rPr lang="en-US" sz="1400" dirty="0" err="1">
                <a:latin typeface=""/>
              </a:rPr>
              <a:t>gradle.properties</a:t>
            </a:r>
            <a:r>
              <a:rPr lang="en-US" sz="1400" dirty="0">
                <a:latin typeface=""/>
              </a:rPr>
              <a:t>. The goals of the instruction file is to upgrade Java. Do not upgrade maven, which includes, maven wrapper, </a:t>
            </a:r>
            <a:r>
              <a:rPr lang="en-US" sz="1400" dirty="0" err="1">
                <a:latin typeface=""/>
              </a:rPr>
              <a:t>pom.xml</a:t>
            </a:r>
            <a:r>
              <a:rPr lang="en-US" sz="1400" dirty="0">
                <a:latin typeface="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8086-8FCA-6A65-B2F4-140CB4DC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840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86B4-2C4F-CCF0-EF6E-1824461C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DB88AB-0E6A-3ED1-7AA2-1EEEFE8C3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/>
              <a:t>Use words consistently, unambiguously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The word “abort” means stop the execution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If there is a need to skip the step, the words like “continue”, “skip” used have to be consistent. Define these words upfront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Use phrase “🚨 CRITICAL” in the instruction that should not be skipped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Similarly, use ‘IMPORTANT' for steps that are less critical but should not be overlooked</a:t>
            </a:r>
          </a:p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Instructions file has mix of AI prompt and shell script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Char char="v"/>
            </a:pP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45F441-9404-B7D7-4395-4B3B1A44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AI Instruction – Important Points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728CA-A6C3-A3F6-D9F3-E1234DF895EC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9B21-7EFA-C276-8EF6-A4C2399B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64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DDBF-BCF5-7324-EDC7-0944E2AB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D682E-DCE1-BE3F-1EB5-CF191A192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/>
              <a:t>General Logging Instructions URL: </a:t>
            </a:r>
            <a:r>
              <a:rPr lang="en-GB" sz="2000" dirty="0">
                <a:hlinkClick r:id="rId3"/>
              </a:rPr>
              <a:t>https://github.com/sri-chalam/ai-tech-notes/blob/main/articles/ai-assisted-java-upgrade/java-17-to-21/instructions/java-17-to-21-upgrade-instructions.md#logging-requirements</a:t>
            </a:r>
            <a:endParaRPr lang="en-GB" sz="2000" dirty="0"/>
          </a:p>
          <a:p>
            <a:pPr>
              <a:buFont typeface="Wingdings" pitchFamily="2" charset="2"/>
              <a:buChar char="v"/>
            </a:pPr>
            <a:r>
              <a:rPr lang="en-GB" sz="2000" dirty="0"/>
              <a:t>As per the above example, the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</a:rPr>
              <a:t>logging in AI is considerably different</a:t>
            </a:r>
            <a:r>
              <a:rPr lang="en-GB" sz="2000" dirty="0"/>
              <a:t> than what we are used to in applications.</a:t>
            </a:r>
          </a:p>
          <a:p>
            <a:pPr lvl="1">
              <a:buFont typeface="Wingdings" pitchFamily="2" charset="2"/>
              <a:buChar char="v"/>
            </a:pPr>
            <a:r>
              <a:rPr lang="en-GB" sz="1800" dirty="0" err="1"/>
              <a:t>logger.info</a:t>
            </a:r>
            <a:r>
              <a:rPr lang="en-GB" sz="1800" dirty="0"/>
              <a:t>() -&gt; this one will surely appear in Splunk/Datadog logs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/>
              <a:t>Logging instructions at each step sample URL: </a:t>
            </a:r>
            <a:r>
              <a:rPr lang="en-GB" sz="2000" dirty="0">
                <a:hlinkClick r:id="rId4"/>
              </a:rPr>
              <a:t>https://github.com/sri-chalam/ai-tech-notes/blob/main/articles/ai-assisted-java-upgrade/java-17-to-21/instructions/java-17-to-21-upgrade-instructions.md#step-2-verify-current-java-version-prerequisite-check</a:t>
            </a:r>
            <a:endParaRPr lang="en-GB" sz="2000" dirty="0"/>
          </a:p>
          <a:p>
            <a:pPr lvl="1">
              <a:buFont typeface="Wingdings" pitchFamily="2" charset="2"/>
              <a:buChar char="v"/>
            </a:pPr>
            <a:r>
              <a:rPr lang="en-GB" sz="1800" dirty="0"/>
              <a:t>What to log at each step is mentioned here.</a:t>
            </a:r>
          </a:p>
          <a:p>
            <a:pPr>
              <a:buFont typeface="Wingdings" pitchFamily="2" charset="2"/>
              <a:buChar char="v"/>
            </a:pPr>
            <a:endParaRPr lang="en-GB" sz="2000" dirty="0"/>
          </a:p>
          <a:p>
            <a:pPr>
              <a:buFont typeface="Wingdings" pitchFamily="2" charset="2"/>
              <a:buChar char="v"/>
            </a:pPr>
            <a:endParaRPr lang="en-GB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2EB152-96A4-3949-1A65-A2AAD995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Sample AI Instruction Snippets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AD6FA-B58A-4318-740B-EAFFAFC430C5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C276F-1DFD-ED5D-930C-68839776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671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7478-E818-36A0-DD68-971D785A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B24AF2-E49F-2533-5B01-CDAD73577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/>
              <a:t>Gradle Kotlin DSL, Groovy DSL</a:t>
            </a:r>
          </a:p>
          <a:p>
            <a:pPr lvl="1">
              <a:buFont typeface="Wingdings" pitchFamily="2" charset="2"/>
              <a:buChar char="v"/>
            </a:pPr>
            <a:r>
              <a:rPr lang="en-GB" b="1" dirty="0"/>
              <a:t>Maven needs change </a:t>
            </a:r>
            <a:r>
              <a:rPr lang="en-GB" dirty="0"/>
              <a:t>in instruction file</a:t>
            </a:r>
          </a:p>
          <a:p>
            <a:pPr>
              <a:buFont typeface="Wingdings" pitchFamily="2" charset="2"/>
              <a:buChar char="v"/>
            </a:pPr>
            <a:r>
              <a:rPr lang="en-GB" dirty="0"/>
              <a:t>The AI instruction file uses the following defaults. If your team prefers alternatives, update the instructions file accordingly</a:t>
            </a:r>
          </a:p>
          <a:p>
            <a:pPr lvl="1">
              <a:buFont typeface="Wingdings" pitchFamily="2" charset="2"/>
              <a:buChar char="v"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Amazon </a:t>
            </a:r>
            <a:r>
              <a:rPr lang="en-GB" b="1" dirty="0" err="1">
                <a:solidFill>
                  <a:schemeClr val="accent2">
                    <a:lumMod val="75000"/>
                  </a:schemeClr>
                </a:solidFill>
              </a:rPr>
              <a:t>Corretto</a:t>
            </a:r>
            <a:r>
              <a:rPr lang="en-GB" dirty="0"/>
              <a:t> JDK is good free JDK distribution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Some organizations may prefer OpenJDK</a:t>
            </a:r>
            <a:endParaRPr lang="en-GB" dirty="0"/>
          </a:p>
          <a:p>
            <a:pPr lvl="1">
              <a:buFont typeface="Wingdings" pitchFamily="2" charset="2"/>
              <a:buChar char="v"/>
            </a:pPr>
            <a:r>
              <a:rPr lang="en-GB" dirty="0"/>
              <a:t>SDKMAN package manager</a:t>
            </a:r>
          </a:p>
          <a:p>
            <a:pPr>
              <a:buFont typeface="Wingdings" pitchFamily="2" charset="2"/>
              <a:buChar char="v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Google-Java-Formatter</a:t>
            </a:r>
          </a:p>
          <a:p>
            <a:pPr lvl="1">
              <a:buFont typeface="Wingdings" pitchFamily="2" charset="2"/>
              <a:buChar char="v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If teams want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Palantir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change the instructions</a:t>
            </a:r>
          </a:p>
          <a:p>
            <a:pPr>
              <a:buFont typeface="Wingdings" pitchFamily="2" charset="2"/>
              <a:buChar char="v"/>
            </a:pPr>
            <a:r>
              <a:rPr lang="en-GB" dirty="0"/>
              <a:t>Spring Boot is not upgraded, unless it is required for Java upgrade</a:t>
            </a:r>
          </a:p>
          <a:p>
            <a:pPr>
              <a:buFont typeface="Wingdings" pitchFamily="2" charset="2"/>
              <a:buChar char="v"/>
            </a:pP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If instruction file is written to include maven, the instruction file becomes a bit messy</a:t>
            </a:r>
          </a:p>
          <a:p>
            <a:pPr lvl="1">
              <a:buFont typeface="Wingdings" pitchFamily="2" charset="2"/>
              <a:buChar char="v"/>
            </a:pPr>
            <a:r>
              <a:rPr lang="en-GB" dirty="0"/>
              <a:t>Already 2,500 lines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0DA9CA-C2AA-0C19-5311-E93C1CE3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Scope of Upgrade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9911A-1BEA-E22A-788D-394468DDE5C1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FA7C5-33A3-C4F7-E9F4-1DB45FB4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07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28AA-DF29-8E3E-4081-A6CCC686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C1D6BD-02AA-5E0F-B506-4F5424943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Identify and Set Project Root Directory</a:t>
            </a:r>
          </a:p>
          <a:p>
            <a:pPr>
              <a:buFont typeface="+mj-lt"/>
              <a:buAutoNum type="arabicPeriod"/>
            </a:pPr>
            <a:r>
              <a:rPr lang="en-US" dirty="0"/>
              <a:t>Verify Current Java Version</a:t>
            </a:r>
          </a:p>
          <a:p>
            <a:pPr>
              <a:buFont typeface="+mj-lt"/>
              <a:buAutoNum type="arabicPeriod"/>
            </a:pPr>
            <a:r>
              <a:rPr lang="en-US" dirty="0"/>
              <a:t>SDKMAN Installation – If not present</a:t>
            </a:r>
          </a:p>
          <a:p>
            <a:pPr>
              <a:buFont typeface="+mj-lt"/>
              <a:buAutoNum type="arabicPeriod"/>
            </a:pPr>
            <a:r>
              <a:rPr lang="en-US" dirty="0"/>
              <a:t>Java 21 Installation: Installs Amazon </a:t>
            </a:r>
            <a:r>
              <a:rPr lang="en-US" dirty="0" err="1"/>
              <a:t>Corretto</a:t>
            </a:r>
            <a:r>
              <a:rPr lang="en-US" dirty="0"/>
              <a:t> JDK 21 via SDKMAN – If not present</a:t>
            </a:r>
          </a:p>
          <a:p>
            <a:pPr>
              <a:buFont typeface="+mj-lt"/>
              <a:buAutoNum type="arabicPeriod"/>
            </a:pPr>
            <a:r>
              <a:rPr lang="en-US" dirty="0"/>
              <a:t>Trusted Certificates Import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Import Org Specific certs from ~/trusted-certs/</a:t>
            </a:r>
          </a:p>
          <a:p>
            <a:pPr>
              <a:buFont typeface="+mj-lt"/>
              <a:buAutoNum type="arabicPeriod"/>
            </a:pPr>
            <a:r>
              <a:rPr lang="en-US" dirty="0"/>
              <a:t>Upgrade Gradle Wrapper (If Needed)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dirty="0" err="1"/>
              <a:t>OpenRewrite</a:t>
            </a:r>
            <a:r>
              <a:rPr lang="en-US" dirty="0"/>
              <a:t> plugin</a:t>
            </a:r>
          </a:p>
          <a:p>
            <a:pPr>
              <a:buFont typeface="+mj-lt"/>
              <a:buAutoNum type="arabicPeriod"/>
            </a:pPr>
            <a:r>
              <a:rPr lang="en-US" dirty="0"/>
              <a:t>Common Library Upgrades – Lombok, Spotless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OpenRewrite</a:t>
            </a:r>
            <a:r>
              <a:rPr lang="en-US" dirty="0"/>
              <a:t> to Migrate Java Code</a:t>
            </a:r>
          </a:p>
          <a:p>
            <a:pPr>
              <a:buFont typeface="+mj-lt"/>
              <a:buAutoNum type="arabicPeriod"/>
            </a:pPr>
            <a:r>
              <a:rPr lang="en-US" dirty="0"/>
              <a:t>Iterative Build/Fix Loop – Upgrades Java application in a loop</a:t>
            </a:r>
          </a:p>
          <a:p>
            <a:pPr>
              <a:buFont typeface="+mj-lt"/>
              <a:buAutoNum type="arabicPeriod"/>
            </a:pPr>
            <a:r>
              <a:rPr lang="en-US" dirty="0"/>
              <a:t>CI/CD Pipeline Updates</a:t>
            </a:r>
          </a:p>
          <a:p>
            <a:pPr>
              <a:buFont typeface="+mj-lt"/>
              <a:buAutoNum type="arabicPeriod"/>
            </a:pPr>
            <a:r>
              <a:rPr lang="en-US" dirty="0"/>
              <a:t>Verify the Upgrade Success or not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85851E-D166-1078-EA5C-5809A11C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Steps in AI based Java Upgrade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4ED1C-C95F-301C-AB8A-DBBA4BF57437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B220-AD5F-3F07-61E6-F56A46E9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97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1517-FFCC-097B-AF42-D593A9FE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27C548-C869-0B86-E0EE-E15041F12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build/fix loop attempts to handle new scenarios through AI analysis and Internet research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Executes ./</a:t>
            </a:r>
            <a:r>
              <a:rPr lang="en-US" dirty="0" err="1"/>
              <a:t>gradlew</a:t>
            </a:r>
            <a:r>
              <a:rPr lang="en-US" dirty="0"/>
              <a:t> clean build to compile code and run tests</a:t>
            </a:r>
          </a:p>
          <a:p>
            <a:pPr>
              <a:buFont typeface="+mj-lt"/>
              <a:buAutoNum type="arabicPeriod"/>
            </a:pPr>
            <a:r>
              <a:rPr lang="en-US" dirty="0"/>
              <a:t>Analyzes compilation errors and identifies root causes</a:t>
            </a:r>
          </a:p>
          <a:p>
            <a:pPr>
              <a:buFont typeface="+mj-lt"/>
              <a:buAutoNum type="arabicPeriod"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OpenRewrite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recipes</a:t>
            </a:r>
            <a:r>
              <a:rPr lang="en-US" dirty="0"/>
              <a:t> - Searches for and applies automated recipes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Internet search</a:t>
            </a:r>
            <a:r>
              <a:rPr lang="en-US" dirty="0"/>
              <a:t> - Researches solutions from official Java documentation, Stack Overflow, and technical resources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the fix</a:t>
            </a:r>
          </a:p>
          <a:p>
            <a:pPr>
              <a:buFont typeface="+mj-lt"/>
              <a:buAutoNum type="arabicPeriod"/>
            </a:pPr>
            <a:r>
              <a:rPr lang="en-US" dirty="0"/>
              <a:t>Execute the build. If there are errors go to step 3</a:t>
            </a:r>
          </a:p>
          <a:p>
            <a:pPr>
              <a:buFont typeface="+mj-lt"/>
              <a:buAutoNum type="arabicPeriod"/>
            </a:pPr>
            <a:r>
              <a:rPr lang="en-US" dirty="0"/>
              <a:t>Exit strategy to prevent infinite loops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If the same problem appears three times, ABORT the upgrade and ask for manual intervention 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1DCC75-A8E7-5578-733C-DDD87388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Build/Fix Loop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C4C03-7D0E-B652-9A23-68D59BD914E6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328E2-593A-074A-BF91-002FC397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205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DE13-732F-71B3-4ED8-3D1287AB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E8C7AC-D174-F563-E707-249EA075D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Copy the AI Instructions from </a:t>
            </a:r>
            <a:r>
              <a:rPr lang="en-US" dirty="0" err="1"/>
              <a:t>Github</a:t>
            </a:r>
            <a:r>
              <a:rPr lang="en-US" dirty="0"/>
              <a:t> to the to be upgraded Git repo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URL Java 17 to 21: </a:t>
            </a:r>
            <a:r>
              <a:rPr lang="en-US" dirty="0">
                <a:hlinkClick r:id="rId3"/>
              </a:rPr>
              <a:t>https://github.com/sri-chalam/ai-tech-notes/blob/main/articles/ai-assisted-java-upgrade/java-17-to-21/instructions/java-17-to-21-upgrade-instructions.md</a:t>
            </a:r>
            <a:endParaRPr lang="en-US" dirty="0"/>
          </a:p>
          <a:p>
            <a:pPr lvl="1">
              <a:buFont typeface="Wingdings" pitchFamily="2" charset="2"/>
              <a:buChar char="v"/>
            </a:pPr>
            <a:r>
              <a:rPr lang="en-US" dirty="0"/>
              <a:t>URL Java 21 to 25: </a:t>
            </a:r>
            <a:r>
              <a:rPr lang="en-US" dirty="0">
                <a:hlinkClick r:id="rId4"/>
              </a:rPr>
              <a:t>https://github.com/sri-chalam/ai-tech-notes/blob/main/articles/ai-assisted-java-upgrade/java-21-to-25/instructions/java-21-to-25-upgrade-instructions.md</a:t>
            </a:r>
            <a:endParaRPr lang="en-US" dirty="0"/>
          </a:p>
          <a:p>
            <a:pPr lvl="1">
              <a:buFont typeface="Wingdings" pitchFamily="2" charset="2"/>
              <a:buChar char="v"/>
            </a:pPr>
            <a:r>
              <a:rPr lang="en-US" dirty="0"/>
              <a:t>Suggested directory to copy in laptop: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&lt;Git repo root&gt;/docs/ai-tasks/instructions/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LLM prompt to kick off the upgrade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40A450-4D07-2036-675B-CD928BDF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Execute Upgrade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FBC68-089A-8885-3CB6-1599AB86837D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B6BF1-F1BE-CEA1-7FD5-DEC5C7A8E828}"/>
              </a:ext>
            </a:extLst>
          </p:cNvPr>
          <p:cNvSpPr txBox="1"/>
          <p:nvPr/>
        </p:nvSpPr>
        <p:spPr>
          <a:xfrm>
            <a:off x="834065" y="3899112"/>
            <a:ext cx="8593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"/>
              </a:rPr>
              <a:t>Upgrade the application from Java 17 to Java 21 using the instructions in docs/ai-tasks/instructions/java-17-to-21-upgrade-instructions.md.</a:t>
            </a:r>
          </a:p>
          <a:p>
            <a:r>
              <a:rPr lang="en-US" sz="1600" dirty="0">
                <a:latin typeface=""/>
              </a:rPr>
              <a:t>If you cannot access this file, stop and ask me to provide its contents.</a:t>
            </a:r>
          </a:p>
          <a:p>
            <a:r>
              <a:rPr lang="en-US" sz="1600" dirty="0">
                <a:latin typeface=""/>
              </a:rPr>
              <a:t>Do not infer or invent upgrade steps.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B625D-613B-7420-BD12-EAEACAE1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521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F46-EF52-1279-E926-750A7A72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9CF40B-44BB-FB33-64A9-53807593E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Demo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8FAF69-6A76-B16E-6086-909445FC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Demo: Java Upgrade in Action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5FC1A-E441-2A23-177B-7DDDE8168BC5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07A43-92FC-7F89-E833-448C672E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864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9A5F-C0BA-ADBC-6EED-CC69AE12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513EA1-B4BE-341E-1EA4-C9DED2BF5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Logs are equally important in AI, similar to any good application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Unlike normal applications, log entries may not come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Models skip the logging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Instructions are in natural language – log the time taken to execute each step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Log decisions and reasoning in each step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354087-C49B-85B3-A830-1F738BFE7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Upgrade Logs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AD08D-E89A-99E2-2D0D-A5FA24ED3DAC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F1E5A-1F75-78D7-0230-E722191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862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9696-4245-3322-038F-32DCCA82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5BC7E22-C09C-FCBD-A0ED-D673582D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In AI instructions file logs are not deterministic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Some instructions may not be followed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In normal applications, the execution time of each step can be logged.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In AI instruction files,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instructions are interpreted differently or even ignored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Even if “CRITICAL” word is added to the instruction, all fields may not be logged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Sample Upgrade Log URL Java 21 to 25: </a:t>
            </a:r>
            <a:r>
              <a:rPr lang="en-US" dirty="0">
                <a:hlinkClick r:id="rId3"/>
              </a:rPr>
              <a:t>https://github.com/sri-chalam/ai-tech-notes/blob/main/articles/ai-assisted-java-upgrade/java-21-to-25/sample-logs/java-21-to-25-upgrade-log-1.md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Sample Upgrade Log URL Java 17 to 21: </a:t>
            </a:r>
            <a:r>
              <a:rPr lang="en-US" dirty="0">
                <a:hlinkClick r:id="rId4"/>
              </a:rPr>
              <a:t>https://github.com/sri-chalam/ai-tech-notes/blob/main/articles/ai-assisted-java-upgrade/java-17-to-21/sample-logs/java-17-to-21-upgrade-log-1.md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In author’s experience, Claude Code produced more detailed logs than Copilot</a:t>
            </a:r>
          </a:p>
          <a:p>
            <a:pPr lvl="1">
              <a:buFont typeface="Wingdings" pitchFamily="2" charset="2"/>
              <a:buChar char="v"/>
            </a:pP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490FB5-1E38-8CD8-299E-41A879127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Review Upgrade Logs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BBF0A-DC8A-B580-54A6-15DF420666E5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E866-AA35-7B62-D719-6DD4E208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18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24A5-E01D-DF58-4CC3-8F7D922F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5694B-BD9C-542B-78C2-4092D6A60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Validate the Java upgrade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Execute End to End tests</a:t>
            </a:r>
            <a:r>
              <a:rPr lang="en-US" dirty="0"/>
              <a:t>, if available</a:t>
            </a:r>
          </a:p>
          <a:p>
            <a:pPr lvl="1"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Execute Integration tests</a:t>
            </a:r>
            <a:r>
              <a:rPr lang="en-US" dirty="0"/>
              <a:t>, if available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Execute manual tests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Start the application locally or in Development environment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Test critical user journeys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Check logging and monitoring functionality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Verify communication to external services (AWS services or microservices)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Configure IDE settings such as IntelliJ Idea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This was not automated by Instructions file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A4BB19-3784-70D3-0110-EF76288F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Post Upgrade Steps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5070C-50A4-3295-C11A-A122E2FCC2AA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5370-8332-B995-6A4F-3FC3A298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9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DE6CC-5995-8F7B-09C6-4D6C706E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CD0298-2BE7-15F8-6BD0-C326627F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Considerable review of generated instructions is required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Asked Claude to write instructions to add Open Rewrite support in Gradle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The instructions used old library version.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The plugin and dependency version were not compatible</a:t>
            </a:r>
          </a:p>
          <a:p>
            <a:pPr lvl="2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Recipes were added to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build.gradle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lvl="3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Not a best practice</a:t>
            </a:r>
          </a:p>
          <a:p>
            <a:pPr lvl="4"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We can leave the dependencies in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build.gradle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but not recipes</a:t>
            </a:r>
          </a:p>
          <a:p>
            <a:pPr lvl="4"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Recipes are for one time use – e.g.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one refactoring/upgrade is done once</a:t>
            </a:r>
          </a:p>
          <a:p>
            <a:pPr lvl="2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The initial generated instruction had build/fix infinite loop problem</a:t>
            </a:r>
          </a:p>
          <a:p>
            <a:pPr lvl="3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Asked AI to change instructions to abort if the same error repeats for three times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US" dirty="0"/>
              <a:t>AI generates instructions and scripts in couple of minutes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Some scripts have outdated/old/deprecated code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Test every script generated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Review thoroughly each line of generated instruction/script</a:t>
            </a:r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5CDCC0-21CA-869B-15DD-B73417EE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Lessons Learned –Thorough Verification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0C988-7B51-187A-391A-FE97BEC51E15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242BD-FE4B-7EAF-7991-B1D1D33E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78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F42-28C9-4501-44B2-B77C6CEB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A364F1-E58A-FDE7-A9D0-490D38F6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0"/>
            <a:ext cx="10644501" cy="58143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Use same shell script for all scripts in the instructions file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Bash is commonly used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Mixing bash and </a:t>
            </a:r>
            <a:r>
              <a:rPr lang="en-US" dirty="0" err="1"/>
              <a:t>zsh</a:t>
            </a:r>
            <a:r>
              <a:rPr lang="en-US" dirty="0"/>
              <a:t> caused the AI to hang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Some instructions are skipped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Cert import was skipped first time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Added a “CRITICAL” keyword, so that important steps are not missed 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Build/Fix Loop instructions had to go through multiple iterations</a:t>
            </a:r>
          </a:p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Upgrade Spotless Gradle Plugin Version, Not Formatting Styles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When AI encountered code formatting problem, it decided to change the format style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It is one solution – Changed the formatting of many files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Better solution is to Upgrade Spotless plugin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Changed instruction to handle this scenario pro-actively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All software engineering practices are still valid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Thorough testing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Observability</a:t>
            </a:r>
          </a:p>
          <a:p>
            <a:pPr lvl="1"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C7499D-2C1F-8A9E-747F-EE0DBCDC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Lessons Learned – Shell –Key Words - Guidance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81FB4-83F4-0418-6BE5-E7AF6EB2F0EC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BDCF-A528-0E45-FD14-C503467F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196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2074-7C31-3AAB-A725-ECB7A930A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D038B2-363A-9579-020C-229ABD138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AI instructions may not work well, if there are too many if else statements - If Maven requires a dozen steps and Gradle requires a dozen steps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Parameterizing them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Within Gradle, there may be instructions with Kotlin vs Groovy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Gradle where to add new dependencies?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May not be in parent </a:t>
            </a:r>
            <a:r>
              <a:rPr lang="en-US" dirty="0" err="1"/>
              <a:t>build.gradle</a:t>
            </a:r>
            <a:r>
              <a:rPr lang="en-US" dirty="0"/>
              <a:t>. It depends. We need to follow current project’s conventions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Use consistent terminology in instructions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Meaning of “Abort”, “Skip”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06D66D-ED17-B7D1-F9E2-396D111B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Lessons Learned – Misc.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CED36-6AFB-1125-F320-8AD6B5CE5113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DBFD-C838-B508-A382-5188826E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4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5D92-5709-CF9C-0CB9-3F716947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F7584E-8789-E7FF-2605-5B0B4C91C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dirty="0"/>
              <a:t>AI-assisted development can significantly boost our productivity</a:t>
            </a:r>
          </a:p>
          <a:p>
            <a:pPr>
              <a:buFont typeface="Wingdings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Generated code requires thorough review before use</a:t>
            </a:r>
            <a:endParaRPr lang="en-GB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GB" dirty="0"/>
              <a:t>Without proper validation, quality issues will slip through</a:t>
            </a:r>
          </a:p>
          <a:p>
            <a:pPr>
              <a:buFont typeface="Wingdings" pitchFamily="2" charset="2"/>
              <a:buChar char="v"/>
            </a:pPr>
            <a:r>
              <a:rPr lang="en-GB" sz="1800" dirty="0"/>
              <a:t>Developer’s role is changing: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less coding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, more validating and reviewing</a:t>
            </a:r>
          </a:p>
          <a:p>
            <a:pPr>
              <a:buFont typeface="Wingdings" pitchFamily="2" charset="2"/>
              <a:buChar char="v"/>
            </a:pPr>
            <a:r>
              <a:rPr lang="en-GB" dirty="0"/>
              <a:t>All the software engineering principles—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testing, code reviews, design patterns</a:t>
            </a:r>
            <a:r>
              <a:rPr lang="en-GB" dirty="0"/>
              <a:t>—are still valid</a:t>
            </a:r>
          </a:p>
          <a:p>
            <a:pPr>
              <a:buFont typeface="Wingdings" pitchFamily="2" charset="2"/>
              <a:buChar char="v"/>
            </a:pPr>
            <a:r>
              <a:rPr lang="en-GB" dirty="0"/>
              <a:t>In fact,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these quality practices matter even more now</a:t>
            </a:r>
            <a:endParaRPr lang="en-GB" sz="18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Wingdings" pitchFamily="2" charset="2"/>
              <a:buChar char="v"/>
            </a:pP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63603B-C76B-98A1-7EDA-1DCF9970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Closing Thoughts – Using AI Responsibly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72025-5038-CB72-A0B6-0B87F5FEFB46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CA25-649B-1223-851C-6E03D48F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7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CB00-DB82-E212-A103-1AE469DB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C0EEAB-55FF-C11C-B3DA-78181C588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043611"/>
            <a:ext cx="10644501" cy="53628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dirty="0"/>
              <a:t>Open Rewrite Framework Recipes: </a:t>
            </a:r>
            <a:r>
              <a:rPr lang="en-GB" dirty="0">
                <a:hlinkClick r:id="rId3"/>
              </a:rPr>
              <a:t>https://docs.openrewrite.org/recipes</a:t>
            </a:r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dirty="0"/>
              <a:t>Open Rewrite Java Lang Recipes: </a:t>
            </a:r>
            <a:r>
              <a:rPr lang="en-GB" dirty="0">
                <a:hlinkClick r:id="rId4"/>
              </a:rPr>
              <a:t>https://docs.openrewrite.org/recipes/java/migrate/lang</a:t>
            </a:r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dirty="0"/>
              <a:t>This presentation is condensed version of Medium article:</a:t>
            </a:r>
          </a:p>
          <a:p>
            <a:pPr lvl="1">
              <a:buFont typeface="Wingdings" pitchFamily="2" charset="2"/>
              <a:buChar char="v"/>
            </a:pPr>
            <a:r>
              <a:rPr lang="en-GB" dirty="0">
                <a:hlinkClick r:id="rId5"/>
              </a:rPr>
              <a:t>https://sri-chalam.medium.com/ai-assisted-java-upgrades-a-hybrid-approach-with-ai-instructions-and-openrewrite-669dc89d39b3</a:t>
            </a:r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dirty="0"/>
              <a:t>The AI instructions for Java 17 to 21: </a:t>
            </a:r>
          </a:p>
          <a:p>
            <a:pPr lvl="1">
              <a:buFont typeface="Wingdings" pitchFamily="2" charset="2"/>
              <a:buChar char="v"/>
            </a:pPr>
            <a:r>
              <a:rPr lang="en-GB" dirty="0">
                <a:hlinkClick r:id="rId6"/>
              </a:rPr>
              <a:t>https://github.com/sri-chalam/ai-tech-notes/blob/main/articles/ai-assisted-java-upgrade/java-17-to-21/instructions/java-17-to-21-upgrade-instructions.md#step-2-verify-current-java-version-prerequisite-check</a:t>
            </a:r>
            <a:endParaRPr lang="en-GB" dirty="0"/>
          </a:p>
          <a:p>
            <a:pPr>
              <a:buFont typeface="Wingdings" pitchFamily="2" charset="2"/>
              <a:buChar char="v"/>
            </a:pPr>
            <a:r>
              <a:rPr lang="en-GB" dirty="0"/>
              <a:t>The AI instructions for Java 21 to 25:</a:t>
            </a:r>
          </a:p>
          <a:p>
            <a:pPr lvl="1">
              <a:buFont typeface="Wingdings" pitchFamily="2" charset="2"/>
              <a:buChar char="v"/>
            </a:pPr>
            <a:r>
              <a:rPr lang="en-GB" dirty="0">
                <a:hlinkClick r:id="rId7"/>
              </a:rPr>
              <a:t>https://github.com/sri-chalam/ai-tech-notes/blob/main/articles/ai-assisted-java-upgrade/java-21-to-25/instructions/java-21-to-25-upgrade-instructions.md</a:t>
            </a:r>
            <a:endParaRPr lang="en-GB" dirty="0"/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CA7057-6F14-3A9A-F775-3D316DBE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28034"/>
            <a:ext cx="11257200" cy="515576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References</a:t>
            </a:r>
            <a:endParaRPr lang="en-GB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48BC9-CF06-0B36-DB99-EB6F3C3FCC4E}"/>
              </a:ext>
            </a:extLst>
          </p:cNvPr>
          <p:cNvSpPr txBox="1"/>
          <p:nvPr/>
        </p:nvSpPr>
        <p:spPr>
          <a:xfrm>
            <a:off x="7725508" y="2649415"/>
            <a:ext cx="65" cy="184666"/>
          </a:xfrm>
          <a:prstGeom prst="rect">
            <a:avLst/>
          </a:prstGeom>
          <a:noFill/>
        </p:spPr>
        <p:txBody>
          <a:bodyPr wrap="none" lIns="0" tIns="0" rIns="0" bIns="0" numCol="1" spcCol="151200" rtlCol="0">
            <a:spAutoFit/>
          </a:bodyPr>
          <a:lstStyle/>
          <a:p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9EFC1-D5E7-9692-15C2-254CF1CA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350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2196</TotalTime>
  <Words>3008</Words>
  <Application>Microsoft Macintosh PowerPoint</Application>
  <PresentationFormat>Widescreen</PresentationFormat>
  <Paragraphs>388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Wingdings 3</vt:lpstr>
      <vt:lpstr>Facet</vt:lpstr>
      <vt:lpstr>AI Assisted Java Upgrades</vt:lpstr>
      <vt:lpstr>Agenda</vt:lpstr>
      <vt:lpstr>Where AI Fits in Software Development</vt:lpstr>
      <vt:lpstr>Java Upgrade - Can a Simple Prompt Work?</vt:lpstr>
      <vt:lpstr>Goals of AI Assisted Java Upgrade</vt:lpstr>
      <vt:lpstr>Java Upgrade Approach 1: Open Rewrite – Refactoring Framework</vt:lpstr>
      <vt:lpstr>Open Rewrite – Usage in Gradle</vt:lpstr>
      <vt:lpstr>Open Rewrite – Example Usage</vt:lpstr>
      <vt:lpstr>Java Upgrade Approach 2: AI Agents for Java Upgrade</vt:lpstr>
      <vt:lpstr>Hybrid Approach: Combining the best of Approach 1 and Approach 2</vt:lpstr>
      <vt:lpstr>AI Instruction File</vt:lpstr>
      <vt:lpstr>AI Instruction – Creating Using Natural Language Prompts</vt:lpstr>
      <vt:lpstr>AI Instruction – Important Points</vt:lpstr>
      <vt:lpstr>Sample AI Instruction Snippets</vt:lpstr>
      <vt:lpstr>Scope of Upgrade</vt:lpstr>
      <vt:lpstr>Steps in AI based Java Upgrade</vt:lpstr>
      <vt:lpstr>Build/Fix Loop</vt:lpstr>
      <vt:lpstr>Execute Upgrade</vt:lpstr>
      <vt:lpstr>Demo: Java Upgrade in Action</vt:lpstr>
      <vt:lpstr>Upgrade Logs</vt:lpstr>
      <vt:lpstr>Review Upgrade Logs</vt:lpstr>
      <vt:lpstr>Post Upgrade Steps</vt:lpstr>
      <vt:lpstr>Lessons Learned –Thorough Verification</vt:lpstr>
      <vt:lpstr>Lessons Learned – Shell –Key Words - Guidance</vt:lpstr>
      <vt:lpstr>Lessons Learned – Misc.</vt:lpstr>
      <vt:lpstr>Closing Thoughts – Using AI Responsibly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Chalamalasetti, Srinivas</dc:creator>
  <cp:lastModifiedBy>Chalamalasetti, Srinivas</cp:lastModifiedBy>
  <cp:revision>841</cp:revision>
  <dcterms:created xsi:type="dcterms:W3CDTF">2023-11-22T04:04:44Z</dcterms:created>
  <dcterms:modified xsi:type="dcterms:W3CDTF">2026-02-10T16:28:43Z</dcterms:modified>
</cp:coreProperties>
</file>